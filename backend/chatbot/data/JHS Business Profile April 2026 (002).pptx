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3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68" r:id="rId14"/>
    <p:sldId id="267" r:id="rId15"/>
    <p:sldId id="269" r:id="rId16"/>
    <p:sldId id="276" r:id="rId17"/>
    <p:sldId id="271" r:id="rId18"/>
    <p:sldId id="272" r:id="rId19"/>
  </p:sldIdLst>
  <p:sldSz cx="18288000" cy="10287000"/>
  <p:notesSz cx="6735763" cy="9866313"/>
  <p:embeddedFontLst>
    <p:embeddedFont>
      <p:font typeface="Aileron" panose="020B0604020202020204" charset="0"/>
      <p:regular r:id="rId21"/>
    </p:embeddedFont>
    <p:embeddedFont>
      <p:font typeface="Aileron Bold" panose="020B0604020202020204" charset="0"/>
      <p:regular r:id="rId22"/>
    </p:embeddedFont>
    <p:embeddedFont>
      <p:font typeface="Aileron Italics" panose="020B0604020202020204" charset="0"/>
      <p:regular r:id="rId23"/>
    </p:embeddedFont>
    <p:embeddedFont>
      <p:font typeface="Archivo Black" panose="020B0604020202020204" charset="0"/>
      <p:regular r:id="rId24"/>
    </p:embeddedFont>
    <p:embeddedFont>
      <p:font typeface="Arimo" panose="020B0604020202020204" charset="0"/>
      <p:regular r:id="rId25"/>
    </p:embeddedFont>
    <p:embeddedFont>
      <p:font typeface="Blacker Sans Text" panose="020B0604020202020204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Open Sauce" panose="020B0604020202020204" charset="0"/>
      <p:regular r:id="rId31"/>
    </p:embeddedFont>
    <p:embeddedFont>
      <p:font typeface="Open Sauce Bold" panose="020B0604020202020204" charset="0"/>
      <p:regular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  <p:embeddedFont>
      <p:font typeface="Roboto Bold" panose="02000000000000000000" charset="0"/>
      <p:regular r:id="rId37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CB1944"/>
    <a:srgbClr val="2059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22" autoAdjust="0"/>
  </p:normalViewPr>
  <p:slideViewPr>
    <p:cSldViewPr>
      <p:cViewPr varScale="1">
        <p:scale>
          <a:sx n="41" d="100"/>
          <a:sy n="41" d="100"/>
        </p:scale>
        <p:origin x="88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3B6DA-0B0B-4A53-A000-E0BF47E2625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41133-0751-4A21-A8CE-4869169E1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720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41133-0751-4A21-A8CE-4869169E173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866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hyperlink" Target="https://jhsassociates.in" TargetMode="External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6.png"/><Relationship Id="rId10" Type="http://schemas.openxmlformats.org/officeDocument/2006/relationships/image" Target="../media/image14.sv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sv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6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sv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6.png"/><Relationship Id="rId5" Type="http://schemas.openxmlformats.org/officeDocument/2006/relationships/image" Target="../media/image3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3" Type="http://schemas.openxmlformats.org/officeDocument/2006/relationships/image" Target="../media/image2.sv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3" Type="http://schemas.openxmlformats.org/officeDocument/2006/relationships/image" Target="../media/image2.svg"/><Relationship Id="rId7" Type="http://schemas.openxmlformats.org/officeDocument/2006/relationships/image" Target="../media/image5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10" Type="http://schemas.openxmlformats.org/officeDocument/2006/relationships/image" Target="../media/image6.png"/><Relationship Id="rId4" Type="http://schemas.openxmlformats.org/officeDocument/2006/relationships/image" Target="../media/image51.jpeg"/><Relationship Id="rId9" Type="http://schemas.openxmlformats.org/officeDocument/2006/relationships/image" Target="../media/image5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5.sv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sv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.png"/><Relationship Id="rId10" Type="http://schemas.openxmlformats.org/officeDocument/2006/relationships/image" Target="../media/image63.svg"/><Relationship Id="rId4" Type="http://schemas.openxmlformats.org/officeDocument/2006/relationships/image" Target="../media/image2.svg"/><Relationship Id="rId9" Type="http://schemas.openxmlformats.org/officeDocument/2006/relationships/image" Target="../media/image62.png"/><Relationship Id="rId14" Type="http://schemas.openxmlformats.org/officeDocument/2006/relationships/image" Target="../media/image6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5.sv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sv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.png"/><Relationship Id="rId10" Type="http://schemas.openxmlformats.org/officeDocument/2006/relationships/image" Target="../media/image63.svg"/><Relationship Id="rId4" Type="http://schemas.openxmlformats.org/officeDocument/2006/relationships/image" Target="../media/image2.svg"/><Relationship Id="rId9" Type="http://schemas.openxmlformats.org/officeDocument/2006/relationships/image" Target="../media/image62.png"/><Relationship Id="rId14" Type="http://schemas.openxmlformats.org/officeDocument/2006/relationships/image" Target="../media/image6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5.sv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sv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.png"/><Relationship Id="rId10" Type="http://schemas.openxmlformats.org/officeDocument/2006/relationships/image" Target="../media/image63.svg"/><Relationship Id="rId4" Type="http://schemas.openxmlformats.org/officeDocument/2006/relationships/image" Target="../media/image2.svg"/><Relationship Id="rId9" Type="http://schemas.openxmlformats.org/officeDocument/2006/relationships/image" Target="../media/image62.png"/><Relationship Id="rId14" Type="http://schemas.openxmlformats.org/officeDocument/2006/relationships/image" Target="../media/image6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5.sv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sv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.png"/><Relationship Id="rId10" Type="http://schemas.openxmlformats.org/officeDocument/2006/relationships/image" Target="../media/image63.svg"/><Relationship Id="rId4" Type="http://schemas.openxmlformats.org/officeDocument/2006/relationships/image" Target="../media/image2.svg"/><Relationship Id="rId9" Type="http://schemas.openxmlformats.org/officeDocument/2006/relationships/image" Target="../media/image62.png"/><Relationship Id="rId14" Type="http://schemas.openxmlformats.org/officeDocument/2006/relationships/image" Target="../media/image6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12" Type="http://schemas.openxmlformats.org/officeDocument/2006/relationships/image" Target="../media/image67.sv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sv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6.png"/><Relationship Id="rId10" Type="http://schemas.openxmlformats.org/officeDocument/2006/relationships/image" Target="../media/image63.svg"/><Relationship Id="rId4" Type="http://schemas.openxmlformats.org/officeDocument/2006/relationships/image" Target="../media/image2.svg"/><Relationship Id="rId9" Type="http://schemas.openxmlformats.org/officeDocument/2006/relationships/image" Target="../media/image62.png"/><Relationship Id="rId14" Type="http://schemas.openxmlformats.org/officeDocument/2006/relationships/image" Target="../media/image6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5.sv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sv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.png"/><Relationship Id="rId10" Type="http://schemas.openxmlformats.org/officeDocument/2006/relationships/image" Target="../media/image63.svg"/><Relationship Id="rId4" Type="http://schemas.openxmlformats.org/officeDocument/2006/relationships/image" Target="../media/image2.svg"/><Relationship Id="rId9" Type="http://schemas.openxmlformats.org/officeDocument/2006/relationships/image" Target="../media/image62.png"/><Relationship Id="rId14" Type="http://schemas.openxmlformats.org/officeDocument/2006/relationships/image" Target="../media/image6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.svg"/><Relationship Id="rId7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6.png"/><Relationship Id="rId4" Type="http://schemas.openxmlformats.org/officeDocument/2006/relationships/image" Target="../media/image68.png"/><Relationship Id="rId9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13" Type="http://schemas.microsoft.com/office/2007/relationships/hdphoto" Target="../media/hdphoto2.wdp"/><Relationship Id="rId18" Type="http://schemas.openxmlformats.org/officeDocument/2006/relationships/image" Target="../media/image86.png"/><Relationship Id="rId26" Type="http://schemas.openxmlformats.org/officeDocument/2006/relationships/image" Target="../media/image6.png"/><Relationship Id="rId3" Type="http://schemas.openxmlformats.org/officeDocument/2006/relationships/image" Target="../media/image2.svg"/><Relationship Id="rId21" Type="http://schemas.openxmlformats.org/officeDocument/2006/relationships/image" Target="../media/image89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33" Type="http://schemas.microsoft.com/office/2007/relationships/hdphoto" Target="../media/hdphoto5.wdp"/><Relationship Id="rId2" Type="http://schemas.openxmlformats.org/officeDocument/2006/relationships/image" Target="../media/image23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24" Type="http://schemas.openxmlformats.org/officeDocument/2006/relationships/image" Target="../media/image92.png"/><Relationship Id="rId32" Type="http://schemas.openxmlformats.org/officeDocument/2006/relationships/image" Target="../media/image97.png"/><Relationship Id="rId5" Type="http://schemas.openxmlformats.org/officeDocument/2006/relationships/image" Target="../media/image74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microsoft.com/office/2007/relationships/hdphoto" Target="../media/hdphoto3.wdp"/><Relationship Id="rId10" Type="http://schemas.openxmlformats.org/officeDocument/2006/relationships/image" Target="../media/image79.png"/><Relationship Id="rId19" Type="http://schemas.openxmlformats.org/officeDocument/2006/relationships/image" Target="../media/image87.png"/><Relationship Id="rId31" Type="http://schemas.microsoft.com/office/2007/relationships/hdphoto" Target="../media/hdphoto4.wdp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4.png"/><Relationship Id="rId30" Type="http://schemas.openxmlformats.org/officeDocument/2006/relationships/image" Target="../media/image96.png"/><Relationship Id="rId8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svg"/><Relationship Id="rId3" Type="http://schemas.openxmlformats.org/officeDocument/2006/relationships/image" Target="../media/image99.svg"/><Relationship Id="rId7" Type="http://schemas.openxmlformats.org/officeDocument/2006/relationships/image" Target="../media/image103.svg"/><Relationship Id="rId12" Type="http://schemas.openxmlformats.org/officeDocument/2006/relationships/image" Target="../media/image108.png"/><Relationship Id="rId17" Type="http://schemas.openxmlformats.org/officeDocument/2006/relationships/image" Target="../media/image112.png"/><Relationship Id="rId2" Type="http://schemas.openxmlformats.org/officeDocument/2006/relationships/image" Target="../media/image98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svg"/><Relationship Id="rId5" Type="http://schemas.openxmlformats.org/officeDocument/2006/relationships/image" Target="../media/image101.svg"/><Relationship Id="rId15" Type="http://schemas.openxmlformats.org/officeDocument/2006/relationships/image" Target="../media/image111.sv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svg"/><Relationship Id="rId14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svg"/><Relationship Id="rId13" Type="http://schemas.openxmlformats.org/officeDocument/2006/relationships/image" Target="../media/image6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hyperlink" Target="https://jhsassociates.in/" TargetMode="External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svg"/><Relationship Id="rId11" Type="http://schemas.openxmlformats.org/officeDocument/2006/relationships/hyperlink" Target="mailto:connect@jhsassociates.in" TargetMode="External"/><Relationship Id="rId5" Type="http://schemas.openxmlformats.org/officeDocument/2006/relationships/image" Target="../media/image116.png"/><Relationship Id="rId10" Type="http://schemas.openxmlformats.org/officeDocument/2006/relationships/image" Target="../media/image121.svg"/><Relationship Id="rId4" Type="http://schemas.openxmlformats.org/officeDocument/2006/relationships/image" Target="../media/image115.svg"/><Relationship Id="rId9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936"/>
            <a:ext cx="9490444" cy="8542118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659" t="-15167" r="1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7307991" y="4407472"/>
            <a:ext cx="5572668" cy="6186387"/>
            <a:chOff x="0" y="0"/>
            <a:chExt cx="812800" cy="8273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27383"/>
            </a:xfrm>
            <a:custGeom>
              <a:avLst/>
              <a:gdLst/>
              <a:ahLst/>
              <a:cxnLst/>
              <a:rect l="l" t="t" r="r" b="b"/>
              <a:pathLst>
                <a:path w="812800" h="827383">
                  <a:moveTo>
                    <a:pt x="406400" y="0"/>
                  </a:moveTo>
                  <a:cubicBezTo>
                    <a:pt x="181951" y="0"/>
                    <a:pt x="0" y="185216"/>
                    <a:pt x="0" y="413692"/>
                  </a:cubicBezTo>
                  <a:cubicBezTo>
                    <a:pt x="0" y="642167"/>
                    <a:pt x="181951" y="827383"/>
                    <a:pt x="406400" y="827383"/>
                  </a:cubicBezTo>
                  <a:cubicBezTo>
                    <a:pt x="630849" y="827383"/>
                    <a:pt x="812800" y="642167"/>
                    <a:pt x="812800" y="413692"/>
                  </a:cubicBezTo>
                  <a:cubicBezTo>
                    <a:pt x="812800" y="1852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194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9467"/>
              <a:ext cx="660400" cy="710349"/>
            </a:xfrm>
            <a:prstGeom prst="rect">
              <a:avLst/>
            </a:prstGeom>
          </p:spPr>
          <p:txBody>
            <a:bodyPr lIns="52471" tIns="52471" rIns="52471" bIns="52471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17083" y="6833511"/>
            <a:ext cx="8370917" cy="3453489"/>
            <a:chOff x="0" y="0"/>
            <a:chExt cx="2488312" cy="897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88312" cy="897771"/>
            </a:xfrm>
            <a:custGeom>
              <a:avLst/>
              <a:gdLst/>
              <a:ahLst/>
              <a:cxnLst/>
              <a:rect l="l" t="t" r="r" b="b"/>
              <a:pathLst>
                <a:path w="2488312" h="897771">
                  <a:moveTo>
                    <a:pt x="0" y="0"/>
                  </a:moveTo>
                  <a:lnTo>
                    <a:pt x="2488312" y="0"/>
                  </a:lnTo>
                  <a:lnTo>
                    <a:pt x="2488312" y="897771"/>
                  </a:lnTo>
                  <a:lnTo>
                    <a:pt x="0" y="897771"/>
                  </a:lnTo>
                  <a:close/>
                </a:path>
              </a:pathLst>
            </a:custGeom>
            <a:solidFill>
              <a:srgbClr val="CB194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88312" cy="935871"/>
            </a:xfrm>
            <a:prstGeom prst="rect">
              <a:avLst/>
            </a:prstGeom>
          </p:spPr>
          <p:txBody>
            <a:bodyPr lIns="52471" tIns="52471" rIns="52471" bIns="5247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2194715" y="3515222"/>
            <a:ext cx="6120555" cy="580520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2471" tIns="52471" rIns="52471" bIns="52471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24476" y="4270236"/>
            <a:ext cx="4344284" cy="432188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8013" t="-35677" r="-6166" b="-16747"/>
              </a:stretch>
            </a:blipFill>
            <a:ln w="9525" cap="sq">
              <a:solidFill>
                <a:srgbClr val="FCB80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708303" y="5410885"/>
            <a:ext cx="4444775" cy="407566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5792" r="-7702"/>
              </a:stretch>
            </a:blipFill>
            <a:ln w="9525" cap="sq">
              <a:solidFill>
                <a:srgbClr val="FCB80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10888180" y="2359093"/>
            <a:ext cx="2293763" cy="229376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194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2471" tIns="52471" rIns="52471" bIns="52471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72484" y="3528248"/>
            <a:ext cx="5032647" cy="1157509"/>
          </a:xfrm>
          <a:custGeom>
            <a:avLst/>
            <a:gdLst/>
            <a:ahLst/>
            <a:cxnLst/>
            <a:rect l="l" t="t" r="r" b="b"/>
            <a:pathLst>
              <a:path w="5032647" h="1157509">
                <a:moveTo>
                  <a:pt x="0" y="0"/>
                </a:moveTo>
                <a:lnTo>
                  <a:pt x="5032647" y="0"/>
                </a:lnTo>
                <a:lnTo>
                  <a:pt x="5032647" y="1157509"/>
                </a:lnTo>
                <a:lnTo>
                  <a:pt x="0" y="11575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750233" y="1466090"/>
            <a:ext cx="7503629" cy="2293763"/>
          </a:xfrm>
          <a:custGeom>
            <a:avLst/>
            <a:gdLst/>
            <a:ahLst/>
            <a:cxnLst/>
            <a:rect l="l" t="t" r="r" b="b"/>
            <a:pathLst>
              <a:path w="7503629" h="2293763">
                <a:moveTo>
                  <a:pt x="0" y="0"/>
                </a:moveTo>
                <a:lnTo>
                  <a:pt x="7503628" y="0"/>
                </a:lnTo>
                <a:lnTo>
                  <a:pt x="7503628" y="2293763"/>
                </a:lnTo>
                <a:lnTo>
                  <a:pt x="0" y="22937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2038025" y="3767821"/>
            <a:ext cx="5067107" cy="547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 Profile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0" y="5857545"/>
            <a:ext cx="70011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59"/>
              </a:lnSpc>
            </a:pPr>
            <a:r>
              <a:rPr lang="en-US" sz="1899" i="1">
                <a:solidFill>
                  <a:srgbClr val="000000">
                    <a:alpha val="56863"/>
                  </a:srgbClr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“Building trust. Delivering excellence. Shaping better futures.”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-3363203" y="8811917"/>
            <a:ext cx="672640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 u="sng" dirty="0">
                <a:solidFill>
                  <a:srgbClr val="737373"/>
                </a:solidFill>
                <a:latin typeface="Blacker Sans Text"/>
                <a:ea typeface="Blacker Sans Text"/>
                <a:cs typeface="Blacker Sans Text"/>
                <a:sym typeface="Blacker Sans Text"/>
                <a:hlinkClick r:id="rId10" tooltip="https://jhsassociates.in"/>
              </a:rPr>
              <a:t>https://jhsassociates.in/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002786"/>
            <a:ext cx="8198381" cy="8284214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96" b="-1875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1695370" y="4291744"/>
            <a:ext cx="6592630" cy="5973320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9224" b="-6469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4983503" y="2730069"/>
            <a:ext cx="3304497" cy="6043095"/>
            <a:chOff x="0" y="0"/>
            <a:chExt cx="870320" cy="15915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70320" cy="1591597"/>
            </a:xfrm>
            <a:custGeom>
              <a:avLst/>
              <a:gdLst/>
              <a:ahLst/>
              <a:cxnLst/>
              <a:rect l="l" t="t" r="r" b="b"/>
              <a:pathLst>
                <a:path w="870320" h="1591597">
                  <a:moveTo>
                    <a:pt x="0" y="0"/>
                  </a:moveTo>
                  <a:lnTo>
                    <a:pt x="870320" y="0"/>
                  </a:lnTo>
                  <a:lnTo>
                    <a:pt x="870320" y="1591597"/>
                  </a:lnTo>
                  <a:lnTo>
                    <a:pt x="0" y="1591597"/>
                  </a:ln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CB1944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870320" cy="1620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710848" y="2002786"/>
            <a:ext cx="7207824" cy="720782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62833" y="2721761"/>
            <a:ext cx="6051403" cy="605140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194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69773" y="3128701"/>
            <a:ext cx="5237523" cy="523752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8932" r="-1456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27035" y="5224881"/>
            <a:ext cx="875473" cy="87547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CB194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73112" y="7024279"/>
            <a:ext cx="875473" cy="87547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CB1944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9363295" y="5366075"/>
            <a:ext cx="602953" cy="593086"/>
          </a:xfrm>
          <a:custGeom>
            <a:avLst/>
            <a:gdLst/>
            <a:ahLst/>
            <a:cxnLst/>
            <a:rect l="l" t="t" r="r" b="b"/>
            <a:pathLst>
              <a:path w="602953" h="593086">
                <a:moveTo>
                  <a:pt x="0" y="0"/>
                </a:moveTo>
                <a:lnTo>
                  <a:pt x="602952" y="0"/>
                </a:lnTo>
                <a:lnTo>
                  <a:pt x="602952" y="593086"/>
                </a:lnTo>
                <a:lnTo>
                  <a:pt x="0" y="5930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AutoShape 23"/>
          <p:cNvSpPr/>
          <p:nvPr/>
        </p:nvSpPr>
        <p:spPr>
          <a:xfrm flipH="1">
            <a:off x="297187" y="1342118"/>
            <a:ext cx="328612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9273112" y="1741001"/>
            <a:ext cx="875473" cy="875473"/>
            <a:chOff x="0" y="0"/>
            <a:chExt cx="1167297" cy="1167297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167297" cy="1167297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31919">
                      <a:alpha val="100000"/>
                    </a:srgbClr>
                  </a:gs>
                  <a:gs pos="100000">
                    <a:srgbClr val="CB1944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108271" y="243529"/>
              <a:ext cx="961568" cy="655614"/>
            </a:xfrm>
            <a:custGeom>
              <a:avLst/>
              <a:gdLst/>
              <a:ahLst/>
              <a:cxnLst/>
              <a:rect l="l" t="t" r="r" b="b"/>
              <a:pathLst>
                <a:path w="961568" h="655614">
                  <a:moveTo>
                    <a:pt x="0" y="0"/>
                  </a:moveTo>
                  <a:lnTo>
                    <a:pt x="961568" y="0"/>
                  </a:lnTo>
                  <a:lnTo>
                    <a:pt x="961568" y="655614"/>
                  </a:lnTo>
                  <a:lnTo>
                    <a:pt x="0" y="655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73112" y="3416271"/>
            <a:ext cx="875473" cy="875473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CB194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9440078" y="3523066"/>
            <a:ext cx="541541" cy="661883"/>
          </a:xfrm>
          <a:custGeom>
            <a:avLst/>
            <a:gdLst/>
            <a:ahLst/>
            <a:cxnLst/>
            <a:rect l="l" t="t" r="r" b="b"/>
            <a:pathLst>
              <a:path w="541541" h="661883">
                <a:moveTo>
                  <a:pt x="0" y="0"/>
                </a:moveTo>
                <a:lnTo>
                  <a:pt x="541541" y="0"/>
                </a:lnTo>
                <a:lnTo>
                  <a:pt x="541541" y="661883"/>
                </a:lnTo>
                <a:lnTo>
                  <a:pt x="0" y="6618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3" name="Group 33"/>
          <p:cNvGrpSpPr/>
          <p:nvPr/>
        </p:nvGrpSpPr>
        <p:grpSpPr>
          <a:xfrm>
            <a:off x="9273112" y="8699852"/>
            <a:ext cx="875473" cy="875473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100000">
                  <a:srgbClr val="CB1944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9440078" y="8770149"/>
            <a:ext cx="669658" cy="734878"/>
          </a:xfrm>
          <a:custGeom>
            <a:avLst/>
            <a:gdLst/>
            <a:ahLst/>
            <a:cxnLst/>
            <a:rect l="l" t="t" r="r" b="b"/>
            <a:pathLst>
              <a:path w="669658" h="734878">
                <a:moveTo>
                  <a:pt x="0" y="0"/>
                </a:moveTo>
                <a:lnTo>
                  <a:pt x="669658" y="0"/>
                </a:lnTo>
                <a:lnTo>
                  <a:pt x="669658" y="734878"/>
                </a:lnTo>
                <a:lnTo>
                  <a:pt x="0" y="7348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Freeform 37"/>
          <p:cNvSpPr/>
          <p:nvPr/>
        </p:nvSpPr>
        <p:spPr>
          <a:xfrm>
            <a:off x="9440078" y="7071310"/>
            <a:ext cx="603011" cy="743311"/>
          </a:xfrm>
          <a:custGeom>
            <a:avLst/>
            <a:gdLst/>
            <a:ahLst/>
            <a:cxnLst/>
            <a:rect l="l" t="t" r="r" b="b"/>
            <a:pathLst>
              <a:path w="603011" h="743311">
                <a:moveTo>
                  <a:pt x="0" y="0"/>
                </a:moveTo>
                <a:lnTo>
                  <a:pt x="603011" y="0"/>
                </a:lnTo>
                <a:lnTo>
                  <a:pt x="603011" y="743311"/>
                </a:lnTo>
                <a:lnTo>
                  <a:pt x="0" y="7433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TextBox 38"/>
          <p:cNvSpPr txBox="1"/>
          <p:nvPr/>
        </p:nvSpPr>
        <p:spPr>
          <a:xfrm>
            <a:off x="2684594" y="1926586"/>
            <a:ext cx="6082115" cy="45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58"/>
              </a:lnSpc>
              <a:spcBef>
                <a:spcPct val="0"/>
              </a:spcBef>
            </a:pPr>
            <a:r>
              <a:rPr lang="en-US" sz="2613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Incorporated on 28</a:t>
            </a:r>
            <a:r>
              <a:rPr lang="en-IN" sz="2800" dirty="0"/>
              <a:t>ᵗʰ </a:t>
            </a:r>
            <a:r>
              <a:rPr lang="en-US" sz="2613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February 1981.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75639" y="3600040"/>
            <a:ext cx="7291070" cy="4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58"/>
              </a:lnSpc>
              <a:spcBef>
                <a:spcPct val="0"/>
              </a:spcBef>
            </a:pPr>
            <a:r>
              <a:rPr lang="en-US" sz="2613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Serving 1000+ clients with trust &amp; excellence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91851" y="5429120"/>
            <a:ext cx="8474858" cy="428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8"/>
              </a:lnSpc>
              <a:spcBef>
                <a:spcPct val="0"/>
              </a:spcBef>
            </a:pPr>
            <a:r>
              <a:rPr lang="en-US" sz="261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Tailored delivery, trusted advice, and clear foresight.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2326" y="206084"/>
            <a:ext cx="14971066" cy="1079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CB1944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Legacy &amp; Capabilities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60181" y="8830197"/>
            <a:ext cx="7706528" cy="43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58"/>
              </a:lnSpc>
              <a:spcBef>
                <a:spcPct val="0"/>
              </a:spcBef>
            </a:pPr>
            <a:r>
              <a:rPr lang="en-US" sz="2613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14 branches ensuring pan-India reach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0" y="7228914"/>
            <a:ext cx="8766709" cy="42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58"/>
              </a:lnSpc>
              <a:spcBef>
                <a:spcPct val="0"/>
              </a:spcBef>
            </a:pPr>
            <a:r>
              <a:rPr lang="en-US" sz="2613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700+ professionals delivering nationwide solutions</a:t>
            </a:r>
          </a:p>
        </p:txBody>
      </p:sp>
      <p:sp>
        <p:nvSpPr>
          <p:cNvPr id="45" name="Freeform 20">
            <a:extLst>
              <a:ext uri="{FF2B5EF4-FFF2-40B4-BE49-F238E27FC236}">
                <a16:creationId xmlns:a16="http://schemas.microsoft.com/office/drawing/2014/main" id="{9D19064F-28DC-4ABE-9B75-88BAFE358DD7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59862" y="0"/>
            <a:ext cx="9528138" cy="10287000"/>
            <a:chOff x="0" y="0"/>
            <a:chExt cx="2509468" cy="2709333"/>
          </a:xfrm>
          <a:solidFill>
            <a:srgbClr val="205985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509468" cy="2709333"/>
            </a:xfrm>
            <a:custGeom>
              <a:avLst/>
              <a:gdLst/>
              <a:ahLst/>
              <a:cxnLst/>
              <a:rect l="l" t="t" r="r" b="b"/>
              <a:pathLst>
                <a:path w="2509468" h="2709333">
                  <a:moveTo>
                    <a:pt x="0" y="0"/>
                  </a:moveTo>
                  <a:lnTo>
                    <a:pt x="2509468" y="0"/>
                  </a:lnTo>
                  <a:lnTo>
                    <a:pt x="2509468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509468" cy="27188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282326" y="2383486"/>
            <a:ext cx="328612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5844957" y="2467020"/>
            <a:ext cx="5781900" cy="3385378"/>
            <a:chOff x="0" y="0"/>
            <a:chExt cx="694092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4092" cy="406400"/>
            </a:xfrm>
            <a:custGeom>
              <a:avLst/>
              <a:gdLst/>
              <a:ahLst/>
              <a:cxnLst/>
              <a:rect l="l" t="t" r="r" b="b"/>
              <a:pathLst>
                <a:path w="694092" h="406400">
                  <a:moveTo>
                    <a:pt x="490892" y="0"/>
                  </a:moveTo>
                  <a:cubicBezTo>
                    <a:pt x="603116" y="0"/>
                    <a:pt x="694092" y="90976"/>
                    <a:pt x="694092" y="203200"/>
                  </a:cubicBezTo>
                  <a:cubicBezTo>
                    <a:pt x="694092" y="315424"/>
                    <a:pt x="603116" y="406400"/>
                    <a:pt x="4908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A5980">
                    <a:alpha val="100000"/>
                  </a:srgbClr>
                </a:gs>
                <a:gs pos="100000">
                  <a:srgbClr val="1F3E8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9409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39553" y="2777420"/>
            <a:ext cx="5192709" cy="2764579"/>
            <a:chOff x="0" y="0"/>
            <a:chExt cx="812800" cy="4327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32732"/>
            </a:xfrm>
            <a:custGeom>
              <a:avLst/>
              <a:gdLst/>
              <a:ahLst/>
              <a:cxnLst/>
              <a:rect l="l" t="t" r="r" b="b"/>
              <a:pathLst>
                <a:path w="812800" h="432732">
                  <a:moveTo>
                    <a:pt x="609600" y="0"/>
                  </a:moveTo>
                  <a:cubicBezTo>
                    <a:pt x="721830" y="0"/>
                    <a:pt x="812800" y="96864"/>
                    <a:pt x="812800" y="216366"/>
                  </a:cubicBezTo>
                  <a:cubicBezTo>
                    <a:pt x="812800" y="335867"/>
                    <a:pt x="721830" y="432732"/>
                    <a:pt x="609600" y="432732"/>
                  </a:cubicBezTo>
                  <a:lnTo>
                    <a:pt x="203200" y="432732"/>
                  </a:lnTo>
                  <a:cubicBezTo>
                    <a:pt x="90970" y="432732"/>
                    <a:pt x="0" y="335867"/>
                    <a:pt x="0" y="216366"/>
                  </a:cubicBezTo>
                  <a:cubicBezTo>
                    <a:pt x="0" y="96864"/>
                    <a:pt x="90970" y="0"/>
                    <a:pt x="203200" y="0"/>
                  </a:cubicBezTo>
                  <a:lnTo>
                    <a:pt x="609600" y="0"/>
                  </a:lnTo>
                </a:path>
              </a:pathLst>
            </a:custGeom>
            <a:blipFill>
              <a:blip r:embed="rId2"/>
              <a:stretch>
                <a:fillRect l="-4317" t="-14694" r="-7581" b="-353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844957" y="5852398"/>
            <a:ext cx="5781900" cy="3385378"/>
            <a:chOff x="0" y="0"/>
            <a:chExt cx="694092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4092" cy="406400"/>
            </a:xfrm>
            <a:custGeom>
              <a:avLst/>
              <a:gdLst/>
              <a:ahLst/>
              <a:cxnLst/>
              <a:rect l="l" t="t" r="r" b="b"/>
              <a:pathLst>
                <a:path w="694092" h="406400">
                  <a:moveTo>
                    <a:pt x="490892" y="0"/>
                  </a:moveTo>
                  <a:cubicBezTo>
                    <a:pt x="603116" y="0"/>
                    <a:pt x="694092" y="90976"/>
                    <a:pt x="694092" y="203200"/>
                  </a:cubicBezTo>
                  <a:cubicBezTo>
                    <a:pt x="694092" y="315424"/>
                    <a:pt x="603116" y="406400"/>
                    <a:pt x="4908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9409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39553" y="6162798"/>
            <a:ext cx="5192709" cy="2764579"/>
            <a:chOff x="0" y="0"/>
            <a:chExt cx="812800" cy="4327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32732"/>
            </a:xfrm>
            <a:custGeom>
              <a:avLst/>
              <a:gdLst/>
              <a:ahLst/>
              <a:cxnLst/>
              <a:rect l="l" t="t" r="r" b="b"/>
              <a:pathLst>
                <a:path w="812800" h="432732">
                  <a:moveTo>
                    <a:pt x="609600" y="0"/>
                  </a:moveTo>
                  <a:cubicBezTo>
                    <a:pt x="721830" y="0"/>
                    <a:pt x="812800" y="96864"/>
                    <a:pt x="812800" y="216366"/>
                  </a:cubicBezTo>
                  <a:cubicBezTo>
                    <a:pt x="812800" y="335867"/>
                    <a:pt x="721830" y="432732"/>
                    <a:pt x="609600" y="432732"/>
                  </a:cubicBezTo>
                  <a:lnTo>
                    <a:pt x="203200" y="432732"/>
                  </a:lnTo>
                  <a:cubicBezTo>
                    <a:pt x="90970" y="432732"/>
                    <a:pt x="0" y="335867"/>
                    <a:pt x="0" y="216366"/>
                  </a:cubicBezTo>
                  <a:cubicBezTo>
                    <a:pt x="0" y="96864"/>
                    <a:pt x="90970" y="0"/>
                    <a:pt x="203200" y="0"/>
                  </a:cubicBezTo>
                  <a:lnTo>
                    <a:pt x="609600" y="0"/>
                  </a:lnTo>
                </a:path>
              </a:pathLst>
            </a:custGeom>
            <a:blipFill>
              <a:blip r:embed="rId3"/>
              <a:stretch>
                <a:fillRect t="-153400" b="-3247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2011363" y="1651204"/>
            <a:ext cx="363348" cy="363348"/>
          </a:xfrm>
          <a:custGeom>
            <a:avLst/>
            <a:gdLst/>
            <a:ahLst/>
            <a:cxnLst/>
            <a:rect l="l" t="t" r="r" b="b"/>
            <a:pathLst>
              <a:path w="363348" h="363348">
                <a:moveTo>
                  <a:pt x="0" y="0"/>
                </a:moveTo>
                <a:lnTo>
                  <a:pt x="363348" y="0"/>
                </a:lnTo>
                <a:lnTo>
                  <a:pt x="363348" y="363348"/>
                </a:lnTo>
                <a:lnTo>
                  <a:pt x="0" y="3633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2011363" y="3779771"/>
            <a:ext cx="363348" cy="363348"/>
          </a:xfrm>
          <a:custGeom>
            <a:avLst/>
            <a:gdLst/>
            <a:ahLst/>
            <a:cxnLst/>
            <a:rect l="l" t="t" r="r" b="b"/>
            <a:pathLst>
              <a:path w="363348" h="363348">
                <a:moveTo>
                  <a:pt x="0" y="0"/>
                </a:moveTo>
                <a:lnTo>
                  <a:pt x="363348" y="0"/>
                </a:lnTo>
                <a:lnTo>
                  <a:pt x="363348" y="363348"/>
                </a:lnTo>
                <a:lnTo>
                  <a:pt x="0" y="3633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2011363" y="5933096"/>
            <a:ext cx="363348" cy="363348"/>
          </a:xfrm>
          <a:custGeom>
            <a:avLst/>
            <a:gdLst/>
            <a:ahLst/>
            <a:cxnLst/>
            <a:rect l="l" t="t" r="r" b="b"/>
            <a:pathLst>
              <a:path w="363348" h="363348">
                <a:moveTo>
                  <a:pt x="0" y="0"/>
                </a:moveTo>
                <a:lnTo>
                  <a:pt x="363348" y="0"/>
                </a:lnTo>
                <a:lnTo>
                  <a:pt x="363348" y="363348"/>
                </a:lnTo>
                <a:lnTo>
                  <a:pt x="0" y="3633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2011363" y="7734043"/>
            <a:ext cx="363348" cy="363348"/>
          </a:xfrm>
          <a:custGeom>
            <a:avLst/>
            <a:gdLst/>
            <a:ahLst/>
            <a:cxnLst/>
            <a:rect l="l" t="t" r="r" b="b"/>
            <a:pathLst>
              <a:path w="363348" h="363348">
                <a:moveTo>
                  <a:pt x="0" y="0"/>
                </a:moveTo>
                <a:lnTo>
                  <a:pt x="363348" y="0"/>
                </a:lnTo>
                <a:lnTo>
                  <a:pt x="363348" y="363348"/>
                </a:lnTo>
                <a:lnTo>
                  <a:pt x="0" y="3633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282326" y="4096021"/>
            <a:ext cx="5225750" cy="457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At JHS, we go b</a:t>
            </a:r>
            <a:r>
              <a:rPr lang="en-US" sz="2000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eyond traditional advisory, combining deep knowledge, agile execution, and holistic support to help businesses thrive. Our strength lies in delivering consistent value through insight, innovation, and integrity.</a:t>
            </a:r>
          </a:p>
          <a:p>
            <a:pPr marL="0" lvl="0" indent="0" algn="just">
              <a:lnSpc>
                <a:spcPts val="2800"/>
              </a:lnSpc>
              <a:spcBef>
                <a:spcPct val="0"/>
              </a:spcBef>
            </a:pPr>
            <a:endParaRPr lang="en-US" sz="2000" u="none" strike="noStrike" dirty="0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marL="0" lvl="0" indent="0" algn="just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We partner with clients as enablers of growth, not just service providers. Our people-first mindset ensures every engagement is collaborative, transparent, and tailored. We bring the stability of a legacy firm with the agility of a modern one.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275" y="3412007"/>
            <a:ext cx="4849853" cy="3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CB1944"/>
                </a:solidFill>
                <a:latin typeface="Archivo Black"/>
                <a:ea typeface="Archivo Black"/>
                <a:cs typeface="Archivo Black"/>
                <a:sym typeface="Archivo Black"/>
              </a:rPr>
              <a:t>Backed by Trust, Built for Impact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19220" y="2042172"/>
            <a:ext cx="5137824" cy="105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All services under one roof, backed by a partner-led, proximity-based engagement model.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19220" y="4190744"/>
            <a:ext cx="5206189" cy="105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Responsive execution powered by dashboards, automation, and simplified compliance.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78110" y="6344069"/>
            <a:ext cx="5216466" cy="701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Strategic delivery designed to reduce risk, minimise cost, and uphold trust.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607365" y="1626198"/>
            <a:ext cx="4970846" cy="3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End-to-End Expertise.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617570" y="3777384"/>
            <a:ext cx="5408743" cy="3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Technology that Drives Results.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59060" y="5930710"/>
            <a:ext cx="4542920" cy="3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Strategic. Secure. Reliable.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007263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2326" y="206084"/>
            <a:ext cx="11049935" cy="2089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CB1944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Expertise You </a:t>
            </a:r>
          </a:p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CB1944"/>
                </a:solidFill>
                <a:latin typeface="Archivo Black"/>
                <a:ea typeface="Archivo Black"/>
                <a:cs typeface="Archivo Black"/>
                <a:sym typeface="Archivo Black"/>
              </a:rPr>
              <a:t>Can Rely 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59060" y="7731588"/>
            <a:ext cx="4542920" cy="365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Workforce &amp; Efficiency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607365" y="8123082"/>
            <a:ext cx="5216466" cy="175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With almost 49% women in our workforce and the inclusion of differently-abled team members, we champion equal opportunity, foster diversity, uphold integrity, and remain committed to delivering quality services.</a:t>
            </a:r>
          </a:p>
        </p:txBody>
      </p:sp>
      <p:sp>
        <p:nvSpPr>
          <p:cNvPr id="33" name="Freeform 20">
            <a:extLst>
              <a:ext uri="{FF2B5EF4-FFF2-40B4-BE49-F238E27FC236}">
                <a16:creationId xmlns:a16="http://schemas.microsoft.com/office/drawing/2014/main" id="{F2F13919-0DFB-495F-A902-BF8F9C763D72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002786"/>
            <a:ext cx="8198381" cy="8284212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96" b="-1875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695370" y="5334054"/>
            <a:ext cx="6592630" cy="4952946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9224" b="-9862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91644" y="174336"/>
            <a:ext cx="5707874" cy="555971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100000"/>
                  </a:srgbClr>
                </a:gs>
                <a:gs pos="50000">
                  <a:srgbClr val="CB1944">
                    <a:alpha val="100000"/>
                  </a:srgbClr>
                </a:gs>
                <a:gs pos="100000">
                  <a:srgbClr val="A72121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1491" y="726272"/>
            <a:ext cx="4774056" cy="465013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43000" y="1104900"/>
            <a:ext cx="3949273" cy="381747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3117" t="-2957" r="-31855" b="-5772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6545149" y="4531543"/>
            <a:ext cx="1130293" cy="1202519"/>
          </a:xfrm>
          <a:custGeom>
            <a:avLst/>
            <a:gdLst/>
            <a:ahLst/>
            <a:cxnLst/>
            <a:rect l="l" t="t" r="r" b="b"/>
            <a:pathLst>
              <a:path w="1130293" h="1202519">
                <a:moveTo>
                  <a:pt x="0" y="0"/>
                </a:moveTo>
                <a:lnTo>
                  <a:pt x="1130293" y="0"/>
                </a:lnTo>
                <a:lnTo>
                  <a:pt x="1130293" y="1202519"/>
                </a:lnTo>
                <a:lnTo>
                  <a:pt x="0" y="1202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73" r="-2473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510757" y="4531543"/>
            <a:ext cx="1305016" cy="1429046"/>
          </a:xfrm>
          <a:custGeom>
            <a:avLst/>
            <a:gdLst/>
            <a:ahLst/>
            <a:cxnLst/>
            <a:rect l="l" t="t" r="r" b="b"/>
            <a:pathLst>
              <a:path w="1305016" h="1429046">
                <a:moveTo>
                  <a:pt x="0" y="0"/>
                </a:moveTo>
                <a:lnTo>
                  <a:pt x="1305016" y="0"/>
                </a:lnTo>
                <a:lnTo>
                  <a:pt x="1305016" y="1429047"/>
                </a:lnTo>
                <a:lnTo>
                  <a:pt x="0" y="14290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687901" y="6751074"/>
            <a:ext cx="8014937" cy="3344735"/>
          </a:xfrm>
          <a:custGeom>
            <a:avLst/>
            <a:gdLst/>
            <a:ahLst/>
            <a:cxnLst/>
            <a:rect l="l" t="t" r="r" b="b"/>
            <a:pathLst>
              <a:path w="8014937" h="3344735">
                <a:moveTo>
                  <a:pt x="0" y="0"/>
                </a:moveTo>
                <a:lnTo>
                  <a:pt x="8014937" y="0"/>
                </a:lnTo>
                <a:lnTo>
                  <a:pt x="8014937" y="3344735"/>
                </a:lnTo>
                <a:lnTo>
                  <a:pt x="0" y="33447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17" r="-317" b="-1585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481778" y="1327678"/>
            <a:ext cx="7879938" cy="235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8000">
                <a:solidFill>
                  <a:srgbClr val="CB1944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VISION &amp; MISSION</a:t>
            </a:r>
          </a:p>
        </p:txBody>
      </p:sp>
      <p:sp>
        <p:nvSpPr>
          <p:cNvPr id="20" name="AutoShape 20"/>
          <p:cNvSpPr/>
          <p:nvPr/>
        </p:nvSpPr>
        <p:spPr>
          <a:xfrm flipH="1">
            <a:off x="7542515" y="3683572"/>
            <a:ext cx="328612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8040390" y="4316828"/>
            <a:ext cx="4059302" cy="192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Vision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be a globally respected premier assurance &amp; accounting firm that is most preferred in locations we serve.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09656" y="4316828"/>
            <a:ext cx="4129575" cy="192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Mission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nurture people and enable them to offer value to our clients through innovation, technology &amp; responsiveness.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id="26" name="Freeform 20">
            <a:extLst>
              <a:ext uri="{FF2B5EF4-FFF2-40B4-BE49-F238E27FC236}">
                <a16:creationId xmlns:a16="http://schemas.microsoft.com/office/drawing/2014/main" id="{F1EA9646-E9C3-45DA-921C-13D5E631CDB1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42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313763"/>
            <a:ext cx="8198381" cy="7973237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96" b="-2338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1695370" y="5391031"/>
            <a:ext cx="6592630" cy="4895969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r="-49224" b="-10093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87167" y="1682713"/>
            <a:ext cx="5940344" cy="3708317"/>
            <a:chOff x="0" y="0"/>
            <a:chExt cx="1586318" cy="9902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86318" cy="990274"/>
            </a:xfrm>
            <a:custGeom>
              <a:avLst/>
              <a:gdLst/>
              <a:ahLst/>
              <a:cxnLst/>
              <a:rect l="l" t="t" r="r" b="b"/>
              <a:pathLst>
                <a:path w="1586318" h="990274">
                  <a:moveTo>
                    <a:pt x="0" y="0"/>
                  </a:moveTo>
                  <a:lnTo>
                    <a:pt x="1586318" y="0"/>
                  </a:lnTo>
                  <a:lnTo>
                    <a:pt x="1586318" y="990274"/>
                  </a:lnTo>
                  <a:lnTo>
                    <a:pt x="0" y="990274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1586318" cy="980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203188" y="2421891"/>
            <a:ext cx="1276821" cy="1276821"/>
          </a:xfrm>
          <a:custGeom>
            <a:avLst/>
            <a:gdLst/>
            <a:ahLst/>
            <a:cxnLst/>
            <a:rect l="l" t="t" r="r" b="b"/>
            <a:pathLst>
              <a:path w="1276821" h="1276821">
                <a:moveTo>
                  <a:pt x="0" y="0"/>
                </a:moveTo>
                <a:lnTo>
                  <a:pt x="1276821" y="0"/>
                </a:lnTo>
                <a:lnTo>
                  <a:pt x="1276821" y="1276821"/>
                </a:lnTo>
                <a:lnTo>
                  <a:pt x="0" y="1276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6164142" y="1682713"/>
            <a:ext cx="5940344" cy="3708317"/>
            <a:chOff x="0" y="0"/>
            <a:chExt cx="1586318" cy="9902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86318" cy="990274"/>
            </a:xfrm>
            <a:custGeom>
              <a:avLst/>
              <a:gdLst/>
              <a:ahLst/>
              <a:cxnLst/>
              <a:rect l="l" t="t" r="r" b="b"/>
              <a:pathLst>
                <a:path w="1586318" h="990274">
                  <a:moveTo>
                    <a:pt x="0" y="0"/>
                  </a:moveTo>
                  <a:lnTo>
                    <a:pt x="1586318" y="0"/>
                  </a:lnTo>
                  <a:lnTo>
                    <a:pt x="1586318" y="990274"/>
                  </a:lnTo>
                  <a:lnTo>
                    <a:pt x="0" y="990274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586318" cy="980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86501" y="1941574"/>
            <a:ext cx="6264911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16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Proximity to client locations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03625" y="3813058"/>
            <a:ext cx="5735412" cy="105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spc="16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Multiple offices across India, we reduce distance so your needs are met faster with better insight and partnership.</a:t>
            </a:r>
          </a:p>
        </p:txBody>
      </p:sp>
      <p:sp>
        <p:nvSpPr>
          <p:cNvPr id="13" name="Freeform 13"/>
          <p:cNvSpPr/>
          <p:nvPr/>
        </p:nvSpPr>
        <p:spPr>
          <a:xfrm>
            <a:off x="8549834" y="2491284"/>
            <a:ext cx="1168961" cy="1168961"/>
          </a:xfrm>
          <a:custGeom>
            <a:avLst/>
            <a:gdLst/>
            <a:ahLst/>
            <a:cxnLst/>
            <a:rect l="l" t="t" r="r" b="b"/>
            <a:pathLst>
              <a:path w="1168961" h="1168961">
                <a:moveTo>
                  <a:pt x="0" y="0"/>
                </a:moveTo>
                <a:lnTo>
                  <a:pt x="1168961" y="0"/>
                </a:lnTo>
                <a:lnTo>
                  <a:pt x="1168961" y="1168961"/>
                </a:lnTo>
                <a:lnTo>
                  <a:pt x="0" y="11689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12250029" y="1682713"/>
            <a:ext cx="5940344" cy="3708317"/>
            <a:chOff x="0" y="0"/>
            <a:chExt cx="1586318" cy="9902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6318" cy="990274"/>
            </a:xfrm>
            <a:custGeom>
              <a:avLst/>
              <a:gdLst/>
              <a:ahLst/>
              <a:cxnLst/>
              <a:rect l="l" t="t" r="r" b="b"/>
              <a:pathLst>
                <a:path w="1586318" h="990274">
                  <a:moveTo>
                    <a:pt x="0" y="0"/>
                  </a:moveTo>
                  <a:lnTo>
                    <a:pt x="1586318" y="0"/>
                  </a:lnTo>
                  <a:lnTo>
                    <a:pt x="1586318" y="990274"/>
                  </a:lnTo>
                  <a:lnTo>
                    <a:pt x="0" y="990274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1586318" cy="980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2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628611" y="2491284"/>
            <a:ext cx="1268071" cy="1095614"/>
          </a:xfrm>
          <a:custGeom>
            <a:avLst/>
            <a:gdLst/>
            <a:ahLst/>
            <a:cxnLst/>
            <a:rect l="l" t="t" r="r" b="b"/>
            <a:pathLst>
              <a:path w="1268071" h="1095614">
                <a:moveTo>
                  <a:pt x="0" y="0"/>
                </a:moveTo>
                <a:lnTo>
                  <a:pt x="1268072" y="0"/>
                </a:lnTo>
                <a:lnTo>
                  <a:pt x="1268072" y="1095613"/>
                </a:lnTo>
                <a:lnTo>
                  <a:pt x="0" y="1095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92397" y="5829814"/>
            <a:ext cx="5940344" cy="3682904"/>
            <a:chOff x="0" y="0"/>
            <a:chExt cx="1586318" cy="9834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86318" cy="983488"/>
            </a:xfrm>
            <a:custGeom>
              <a:avLst/>
              <a:gdLst/>
              <a:ahLst/>
              <a:cxnLst/>
              <a:rect l="l" t="t" r="r" b="b"/>
              <a:pathLst>
                <a:path w="1586318" h="983488">
                  <a:moveTo>
                    <a:pt x="0" y="0"/>
                  </a:moveTo>
                  <a:lnTo>
                    <a:pt x="1586318" y="0"/>
                  </a:lnTo>
                  <a:lnTo>
                    <a:pt x="1586318" y="983488"/>
                  </a:lnTo>
                  <a:lnTo>
                    <a:pt x="0" y="98348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1586318" cy="973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2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2340799" y="6809599"/>
            <a:ext cx="1276821" cy="1069545"/>
          </a:xfrm>
          <a:custGeom>
            <a:avLst/>
            <a:gdLst/>
            <a:ahLst/>
            <a:cxnLst/>
            <a:rect l="l" t="t" r="r" b="b"/>
            <a:pathLst>
              <a:path w="1276821" h="1069545">
                <a:moveTo>
                  <a:pt x="0" y="0"/>
                </a:moveTo>
                <a:lnTo>
                  <a:pt x="1276821" y="0"/>
                </a:lnTo>
                <a:lnTo>
                  <a:pt x="1276821" y="1069545"/>
                </a:lnTo>
                <a:lnTo>
                  <a:pt x="0" y="1069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0" y="-13073"/>
            <a:ext cx="18288000" cy="1387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CB1944"/>
                </a:solidFill>
                <a:latin typeface="Archivo Black"/>
                <a:sym typeface="Archivo Black"/>
              </a:rPr>
              <a:t>KEY</a:t>
            </a:r>
            <a:r>
              <a:rPr lang="en-US" sz="8000" u="none" strike="noStrike" spc="240" dirty="0">
                <a:solidFill>
                  <a:srgbClr val="2A598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8000" dirty="0">
                <a:solidFill>
                  <a:srgbClr val="CB1944"/>
                </a:solidFill>
                <a:latin typeface="Archivo Black"/>
                <a:sym typeface="Archivo Black"/>
              </a:rPr>
              <a:t>DIFFERENTIATORS</a:t>
            </a:r>
          </a:p>
        </p:txBody>
      </p:sp>
      <p:sp>
        <p:nvSpPr>
          <p:cNvPr id="23" name="AutoShape 23"/>
          <p:cNvSpPr/>
          <p:nvPr/>
        </p:nvSpPr>
        <p:spPr>
          <a:xfrm flipH="1">
            <a:off x="2148608" y="1383971"/>
            <a:ext cx="328612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9525" y="1941574"/>
            <a:ext cx="6264911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16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Full array of services under one roof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2099" y="3813058"/>
            <a:ext cx="5432054" cy="105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spc="16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End-to-end services: compliance, risk management, training, transformation, payroll, staffing &amp; global setups.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72387" y="1941574"/>
            <a:ext cx="6264911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16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Partner driven engagement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13105" y="3851090"/>
            <a:ext cx="5874895" cy="105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16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adapt and integrate with your team to ensure our advice is practical and aligned with your long-term strategy.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169373" y="5829814"/>
            <a:ext cx="5940344" cy="3682904"/>
            <a:chOff x="0" y="0"/>
            <a:chExt cx="1586318" cy="9834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86318" cy="983488"/>
            </a:xfrm>
            <a:custGeom>
              <a:avLst/>
              <a:gdLst/>
              <a:ahLst/>
              <a:cxnLst/>
              <a:rect l="l" t="t" r="r" b="b"/>
              <a:pathLst>
                <a:path w="1586318" h="983488">
                  <a:moveTo>
                    <a:pt x="0" y="0"/>
                  </a:moveTo>
                  <a:lnTo>
                    <a:pt x="1586318" y="0"/>
                  </a:lnTo>
                  <a:lnTo>
                    <a:pt x="1586318" y="983488"/>
                  </a:lnTo>
                  <a:lnTo>
                    <a:pt x="0" y="98348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9525"/>
              <a:ext cx="1586318" cy="973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2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180828" y="6191131"/>
            <a:ext cx="5928889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16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Quick response to client needs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08855" y="8062615"/>
            <a:ext cx="5735412" cy="105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spc="16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Fast, Reliable, Responsive. Your needs are met with Agility. We act quickly and deliver solutions without waiting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2255259" y="5829814"/>
            <a:ext cx="5940344" cy="3682904"/>
            <a:chOff x="0" y="0"/>
            <a:chExt cx="1586318" cy="9834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86318" cy="983488"/>
            </a:xfrm>
            <a:custGeom>
              <a:avLst/>
              <a:gdLst/>
              <a:ahLst/>
              <a:cxnLst/>
              <a:rect l="l" t="t" r="r" b="b"/>
              <a:pathLst>
                <a:path w="1586318" h="983488">
                  <a:moveTo>
                    <a:pt x="0" y="0"/>
                  </a:moveTo>
                  <a:lnTo>
                    <a:pt x="1586318" y="0"/>
                  </a:lnTo>
                  <a:lnTo>
                    <a:pt x="1586318" y="983488"/>
                  </a:lnTo>
                  <a:lnTo>
                    <a:pt x="0" y="98348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1586318" cy="9739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2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3852" y="6191131"/>
            <a:ext cx="5928889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16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Dashboards and Insights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7329" y="8062615"/>
            <a:ext cx="5432054" cy="105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spc="16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Dashboards and Insights that provide real-time analysis reports and a clear view of your organization.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266715" y="6191131"/>
            <a:ext cx="5928889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16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Client-centric approach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82846" y="8062615"/>
            <a:ext cx="5735412" cy="1406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spc="16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build our work to reflect your business, goals and your growth plan. You lead, we facilitate and execute.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16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8272491" y="6740428"/>
            <a:ext cx="1625833" cy="1274607"/>
          </a:xfrm>
          <a:custGeom>
            <a:avLst/>
            <a:gdLst/>
            <a:ahLst/>
            <a:cxnLst/>
            <a:rect l="l" t="t" r="r" b="b"/>
            <a:pathLst>
              <a:path w="1625833" h="1274607">
                <a:moveTo>
                  <a:pt x="0" y="0"/>
                </a:moveTo>
                <a:lnTo>
                  <a:pt x="1625832" y="0"/>
                </a:lnTo>
                <a:lnTo>
                  <a:pt x="1625832" y="1274607"/>
                </a:lnTo>
                <a:lnTo>
                  <a:pt x="0" y="12746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Freeform 43"/>
          <p:cNvSpPr/>
          <p:nvPr/>
        </p:nvSpPr>
        <p:spPr>
          <a:xfrm>
            <a:off x="14517393" y="6721378"/>
            <a:ext cx="1282726" cy="1274607"/>
          </a:xfrm>
          <a:custGeom>
            <a:avLst/>
            <a:gdLst/>
            <a:ahLst/>
            <a:cxnLst/>
            <a:rect l="l" t="t" r="r" b="b"/>
            <a:pathLst>
              <a:path w="1282726" h="1274607">
                <a:moveTo>
                  <a:pt x="0" y="0"/>
                </a:moveTo>
                <a:lnTo>
                  <a:pt x="1282726" y="0"/>
                </a:lnTo>
                <a:lnTo>
                  <a:pt x="1282726" y="1274607"/>
                </a:lnTo>
                <a:lnTo>
                  <a:pt x="0" y="12746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4" name="Freeform 20">
            <a:extLst>
              <a:ext uri="{FF2B5EF4-FFF2-40B4-BE49-F238E27FC236}">
                <a16:creationId xmlns:a16="http://schemas.microsoft.com/office/drawing/2014/main" id="{0A9F8E62-1EE8-4834-A823-07F6E32ADF4C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002786"/>
            <a:ext cx="8198381" cy="8284214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96" b="-1875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1695370" y="5080054"/>
            <a:ext cx="6592630" cy="5206946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9224" b="-8893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913383" y="2781682"/>
            <a:ext cx="2776756" cy="2719133"/>
            <a:chOff x="-72390" y="7620"/>
            <a:chExt cx="6487160" cy="6352540"/>
          </a:xfrm>
        </p:grpSpPr>
        <p:sp>
          <p:nvSpPr>
            <p:cNvPr id="5" name="Freeform 5"/>
            <p:cNvSpPr/>
            <p:nvPr/>
          </p:nvSpPr>
          <p:spPr>
            <a:xfrm>
              <a:off x="-72390" y="7620"/>
              <a:ext cx="6487160" cy="6352540"/>
            </a:xfrm>
            <a:custGeom>
              <a:avLst/>
              <a:gdLst/>
              <a:ahLst/>
              <a:cxnLst/>
              <a:rect l="l" t="t" r="r" b="b"/>
              <a:pathLst>
                <a:path w="6487160" h="6352540">
                  <a:moveTo>
                    <a:pt x="6322060" y="3176270"/>
                  </a:moveTo>
                  <a:cubicBezTo>
                    <a:pt x="6322060" y="2844800"/>
                    <a:pt x="6487160" y="2493010"/>
                    <a:pt x="6385560" y="2194560"/>
                  </a:cubicBezTo>
                  <a:cubicBezTo>
                    <a:pt x="6281420" y="1884680"/>
                    <a:pt x="5928360" y="1694180"/>
                    <a:pt x="5734050" y="1436370"/>
                  </a:cubicBezTo>
                  <a:cubicBezTo>
                    <a:pt x="5537200" y="1176020"/>
                    <a:pt x="5455920" y="796290"/>
                    <a:pt x="5185410" y="607060"/>
                  </a:cubicBezTo>
                  <a:cubicBezTo>
                    <a:pt x="4917440" y="420370"/>
                    <a:pt x="4517390" y="462280"/>
                    <a:pt x="4196080" y="360680"/>
                  </a:cubicBezTo>
                  <a:cubicBezTo>
                    <a:pt x="3884930" y="264160"/>
                    <a:pt x="3589020" y="0"/>
                    <a:pt x="3244850" y="0"/>
                  </a:cubicBezTo>
                  <a:cubicBezTo>
                    <a:pt x="2900680" y="0"/>
                    <a:pt x="2603500" y="262890"/>
                    <a:pt x="2293620" y="360680"/>
                  </a:cubicBezTo>
                  <a:cubicBezTo>
                    <a:pt x="1972310" y="461010"/>
                    <a:pt x="1570990" y="419100"/>
                    <a:pt x="1303020" y="607060"/>
                  </a:cubicBezTo>
                  <a:cubicBezTo>
                    <a:pt x="1032510" y="796290"/>
                    <a:pt x="951230" y="1176020"/>
                    <a:pt x="754380" y="1436370"/>
                  </a:cubicBezTo>
                  <a:cubicBezTo>
                    <a:pt x="558800" y="1694180"/>
                    <a:pt x="207010" y="1884680"/>
                    <a:pt x="101600" y="2194560"/>
                  </a:cubicBezTo>
                  <a:cubicBezTo>
                    <a:pt x="1270" y="2493010"/>
                    <a:pt x="165100" y="2844800"/>
                    <a:pt x="165100" y="3176270"/>
                  </a:cubicBezTo>
                  <a:cubicBezTo>
                    <a:pt x="165100" y="3507740"/>
                    <a:pt x="0" y="3859530"/>
                    <a:pt x="101600" y="4157980"/>
                  </a:cubicBezTo>
                  <a:cubicBezTo>
                    <a:pt x="205740" y="4467860"/>
                    <a:pt x="558800" y="4658360"/>
                    <a:pt x="753110" y="4916170"/>
                  </a:cubicBezTo>
                  <a:cubicBezTo>
                    <a:pt x="949960" y="5176520"/>
                    <a:pt x="1031240" y="5556250"/>
                    <a:pt x="1301750" y="5745480"/>
                  </a:cubicBezTo>
                  <a:cubicBezTo>
                    <a:pt x="1569720" y="5933440"/>
                    <a:pt x="1969770" y="5891530"/>
                    <a:pt x="2292350" y="5991860"/>
                  </a:cubicBezTo>
                  <a:cubicBezTo>
                    <a:pt x="2603500" y="6088380"/>
                    <a:pt x="2899410" y="6352540"/>
                    <a:pt x="3243580" y="6352540"/>
                  </a:cubicBezTo>
                  <a:cubicBezTo>
                    <a:pt x="3587750" y="6352540"/>
                    <a:pt x="3884930" y="6089650"/>
                    <a:pt x="4194810" y="5991860"/>
                  </a:cubicBezTo>
                  <a:cubicBezTo>
                    <a:pt x="4516120" y="5891530"/>
                    <a:pt x="4917440" y="5933440"/>
                    <a:pt x="5185410" y="5745480"/>
                  </a:cubicBezTo>
                  <a:cubicBezTo>
                    <a:pt x="5455920" y="5556250"/>
                    <a:pt x="5537200" y="5176520"/>
                    <a:pt x="5734050" y="4916170"/>
                  </a:cubicBezTo>
                  <a:cubicBezTo>
                    <a:pt x="5929630" y="4658360"/>
                    <a:pt x="6281420" y="4467860"/>
                    <a:pt x="6385560" y="4157980"/>
                  </a:cubicBezTo>
                  <a:cubicBezTo>
                    <a:pt x="6487160" y="3858260"/>
                    <a:pt x="6322060" y="3506470"/>
                    <a:pt x="6322060" y="317627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749173" y="2617472"/>
            <a:ext cx="2776756" cy="2719133"/>
            <a:chOff x="-72390" y="7620"/>
            <a:chExt cx="6487160" cy="6352540"/>
          </a:xfrm>
          <a:solidFill>
            <a:srgbClr val="205985"/>
          </a:solidFill>
        </p:grpSpPr>
        <p:sp>
          <p:nvSpPr>
            <p:cNvPr id="7" name="Freeform 7"/>
            <p:cNvSpPr/>
            <p:nvPr/>
          </p:nvSpPr>
          <p:spPr>
            <a:xfrm>
              <a:off x="-72390" y="7620"/>
              <a:ext cx="6487160" cy="6352540"/>
            </a:xfrm>
            <a:custGeom>
              <a:avLst/>
              <a:gdLst/>
              <a:ahLst/>
              <a:cxnLst/>
              <a:rect l="l" t="t" r="r" b="b"/>
              <a:pathLst>
                <a:path w="6487160" h="6352540">
                  <a:moveTo>
                    <a:pt x="6322060" y="3176270"/>
                  </a:moveTo>
                  <a:cubicBezTo>
                    <a:pt x="6322060" y="2844800"/>
                    <a:pt x="6487160" y="2493010"/>
                    <a:pt x="6385560" y="2194560"/>
                  </a:cubicBezTo>
                  <a:cubicBezTo>
                    <a:pt x="6281420" y="1884680"/>
                    <a:pt x="5928360" y="1694180"/>
                    <a:pt x="5734050" y="1436370"/>
                  </a:cubicBezTo>
                  <a:cubicBezTo>
                    <a:pt x="5537200" y="1176020"/>
                    <a:pt x="5455920" y="796290"/>
                    <a:pt x="5185410" y="607060"/>
                  </a:cubicBezTo>
                  <a:cubicBezTo>
                    <a:pt x="4917440" y="420370"/>
                    <a:pt x="4517390" y="462280"/>
                    <a:pt x="4196080" y="360680"/>
                  </a:cubicBezTo>
                  <a:cubicBezTo>
                    <a:pt x="3884930" y="264160"/>
                    <a:pt x="3589020" y="0"/>
                    <a:pt x="3244850" y="0"/>
                  </a:cubicBezTo>
                  <a:cubicBezTo>
                    <a:pt x="2900680" y="0"/>
                    <a:pt x="2603500" y="262890"/>
                    <a:pt x="2293620" y="360680"/>
                  </a:cubicBezTo>
                  <a:cubicBezTo>
                    <a:pt x="1972310" y="461010"/>
                    <a:pt x="1570990" y="419100"/>
                    <a:pt x="1303020" y="607060"/>
                  </a:cubicBezTo>
                  <a:cubicBezTo>
                    <a:pt x="1032510" y="796290"/>
                    <a:pt x="951230" y="1176020"/>
                    <a:pt x="754380" y="1436370"/>
                  </a:cubicBezTo>
                  <a:cubicBezTo>
                    <a:pt x="558800" y="1694180"/>
                    <a:pt x="207010" y="1884680"/>
                    <a:pt x="101600" y="2194560"/>
                  </a:cubicBezTo>
                  <a:cubicBezTo>
                    <a:pt x="1270" y="2493010"/>
                    <a:pt x="165100" y="2844800"/>
                    <a:pt x="165100" y="3176270"/>
                  </a:cubicBezTo>
                  <a:cubicBezTo>
                    <a:pt x="165100" y="3507740"/>
                    <a:pt x="0" y="3859530"/>
                    <a:pt x="101600" y="4157980"/>
                  </a:cubicBezTo>
                  <a:cubicBezTo>
                    <a:pt x="205740" y="4467860"/>
                    <a:pt x="558800" y="4658360"/>
                    <a:pt x="753110" y="4916170"/>
                  </a:cubicBezTo>
                  <a:cubicBezTo>
                    <a:pt x="949960" y="5176520"/>
                    <a:pt x="1031240" y="5556250"/>
                    <a:pt x="1301750" y="5745480"/>
                  </a:cubicBezTo>
                  <a:cubicBezTo>
                    <a:pt x="1569720" y="5933440"/>
                    <a:pt x="1969770" y="5891530"/>
                    <a:pt x="2292350" y="5991860"/>
                  </a:cubicBezTo>
                  <a:cubicBezTo>
                    <a:pt x="2603500" y="6088380"/>
                    <a:pt x="2899410" y="6352540"/>
                    <a:pt x="3243580" y="6352540"/>
                  </a:cubicBezTo>
                  <a:cubicBezTo>
                    <a:pt x="3587750" y="6352540"/>
                    <a:pt x="3884930" y="6089650"/>
                    <a:pt x="4194810" y="5991860"/>
                  </a:cubicBezTo>
                  <a:cubicBezTo>
                    <a:pt x="4516120" y="5891530"/>
                    <a:pt x="4917440" y="5933440"/>
                    <a:pt x="5185410" y="5745480"/>
                  </a:cubicBezTo>
                  <a:cubicBezTo>
                    <a:pt x="5455920" y="5556250"/>
                    <a:pt x="5537200" y="5176520"/>
                    <a:pt x="5734050" y="4916170"/>
                  </a:cubicBezTo>
                  <a:cubicBezTo>
                    <a:pt x="5929630" y="4658360"/>
                    <a:pt x="6281420" y="4467860"/>
                    <a:pt x="6385560" y="4157980"/>
                  </a:cubicBezTo>
                  <a:cubicBezTo>
                    <a:pt x="6487160" y="3858260"/>
                    <a:pt x="6322060" y="3506470"/>
                    <a:pt x="6322060" y="317627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29654" y="2565104"/>
            <a:ext cx="1522891" cy="152289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18823" y="2617472"/>
            <a:ext cx="1470523" cy="147052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33816" y="5295619"/>
            <a:ext cx="1218729" cy="121872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45064" y="6315510"/>
            <a:ext cx="1584972" cy="158497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29086" y="5295619"/>
            <a:ext cx="1218729" cy="121872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6835912" y="3485585"/>
            <a:ext cx="944394" cy="201650"/>
          </a:xfrm>
          <a:prstGeom prst="line">
            <a:avLst/>
          </a:prstGeom>
          <a:ln w="28575" cap="flat">
            <a:solidFill>
              <a:srgbClr val="205985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24"/>
          <p:cNvSpPr/>
          <p:nvPr/>
        </p:nvSpPr>
        <p:spPr>
          <a:xfrm flipV="1">
            <a:off x="6750388" y="4699240"/>
            <a:ext cx="1302941" cy="867892"/>
          </a:xfrm>
          <a:prstGeom prst="line">
            <a:avLst/>
          </a:prstGeom>
          <a:ln w="28575" cap="flat">
            <a:solidFill>
              <a:srgbClr val="205985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25"/>
          <p:cNvSpPr/>
          <p:nvPr/>
        </p:nvSpPr>
        <p:spPr>
          <a:xfrm flipH="1" flipV="1">
            <a:off x="9137550" y="5336605"/>
            <a:ext cx="0" cy="978905"/>
          </a:xfrm>
          <a:prstGeom prst="line">
            <a:avLst/>
          </a:prstGeom>
          <a:ln w="28575" cap="flat">
            <a:solidFill>
              <a:srgbClr val="205985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AutoShape 26"/>
          <p:cNvSpPr/>
          <p:nvPr/>
        </p:nvSpPr>
        <p:spPr>
          <a:xfrm flipH="1" flipV="1">
            <a:off x="10222726" y="4698249"/>
            <a:ext cx="1308165" cy="869410"/>
          </a:xfrm>
          <a:prstGeom prst="line">
            <a:avLst/>
          </a:prstGeom>
          <a:ln w="28575" cap="flat">
            <a:solidFill>
              <a:srgbClr val="205985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7" name="AutoShape 27"/>
          <p:cNvSpPr/>
          <p:nvPr/>
        </p:nvSpPr>
        <p:spPr>
          <a:xfrm flipH="1">
            <a:off x="10494244" y="3501776"/>
            <a:ext cx="939694" cy="194480"/>
          </a:xfrm>
          <a:prstGeom prst="line">
            <a:avLst/>
          </a:prstGeom>
          <a:ln w="28575" cap="flat">
            <a:solidFill>
              <a:srgbClr val="205985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8528186" y="3294277"/>
            <a:ext cx="1218729" cy="1365523"/>
          </a:xfrm>
          <a:custGeom>
            <a:avLst/>
            <a:gdLst/>
            <a:ahLst/>
            <a:cxnLst/>
            <a:rect l="l" t="t" r="r" b="b"/>
            <a:pathLst>
              <a:path w="1218729" h="1365523">
                <a:moveTo>
                  <a:pt x="0" y="0"/>
                </a:moveTo>
                <a:lnTo>
                  <a:pt x="1218729" y="0"/>
                </a:lnTo>
                <a:lnTo>
                  <a:pt x="1218729" y="1365523"/>
                </a:lnTo>
                <a:lnTo>
                  <a:pt x="0" y="13655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5523996" y="2734329"/>
            <a:ext cx="1119367" cy="1095033"/>
          </a:xfrm>
          <a:custGeom>
            <a:avLst/>
            <a:gdLst/>
            <a:ahLst/>
            <a:cxnLst/>
            <a:rect l="l" t="t" r="r" b="b"/>
            <a:pathLst>
              <a:path w="1119367" h="1095033">
                <a:moveTo>
                  <a:pt x="0" y="0"/>
                </a:moveTo>
                <a:lnTo>
                  <a:pt x="1119367" y="0"/>
                </a:lnTo>
                <a:lnTo>
                  <a:pt x="1119367" y="1095033"/>
                </a:lnTo>
                <a:lnTo>
                  <a:pt x="0" y="10950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5805567" y="5452481"/>
            <a:ext cx="875226" cy="871117"/>
          </a:xfrm>
          <a:custGeom>
            <a:avLst/>
            <a:gdLst/>
            <a:ahLst/>
            <a:cxnLst/>
            <a:rect l="l" t="t" r="r" b="b"/>
            <a:pathLst>
              <a:path w="875226" h="871117">
                <a:moveTo>
                  <a:pt x="0" y="0"/>
                </a:moveTo>
                <a:lnTo>
                  <a:pt x="875226" y="0"/>
                </a:lnTo>
                <a:lnTo>
                  <a:pt x="875226" y="871117"/>
                </a:lnTo>
                <a:lnTo>
                  <a:pt x="0" y="8711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8659853" y="6600101"/>
            <a:ext cx="1008588" cy="999028"/>
          </a:xfrm>
          <a:custGeom>
            <a:avLst/>
            <a:gdLst/>
            <a:ahLst/>
            <a:cxnLst/>
            <a:rect l="l" t="t" r="r" b="b"/>
            <a:pathLst>
              <a:path w="1008588" h="999028">
                <a:moveTo>
                  <a:pt x="0" y="0"/>
                </a:moveTo>
                <a:lnTo>
                  <a:pt x="1008588" y="0"/>
                </a:lnTo>
                <a:lnTo>
                  <a:pt x="1008588" y="999028"/>
                </a:lnTo>
                <a:lnTo>
                  <a:pt x="0" y="9990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11530891" y="5697082"/>
            <a:ext cx="1057614" cy="381916"/>
          </a:xfrm>
          <a:custGeom>
            <a:avLst/>
            <a:gdLst/>
            <a:ahLst/>
            <a:cxnLst/>
            <a:rect l="l" t="t" r="r" b="b"/>
            <a:pathLst>
              <a:path w="1057614" h="381916">
                <a:moveTo>
                  <a:pt x="0" y="0"/>
                </a:moveTo>
                <a:lnTo>
                  <a:pt x="1057614" y="0"/>
                </a:lnTo>
                <a:lnTo>
                  <a:pt x="1057614" y="381916"/>
                </a:lnTo>
                <a:lnTo>
                  <a:pt x="0" y="3819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11701682" y="2763676"/>
            <a:ext cx="904806" cy="1125747"/>
          </a:xfrm>
          <a:custGeom>
            <a:avLst/>
            <a:gdLst/>
            <a:ahLst/>
            <a:cxnLst/>
            <a:rect l="l" t="t" r="r" b="b"/>
            <a:pathLst>
              <a:path w="904806" h="1125747">
                <a:moveTo>
                  <a:pt x="0" y="0"/>
                </a:moveTo>
                <a:lnTo>
                  <a:pt x="904805" y="0"/>
                </a:lnTo>
                <a:lnTo>
                  <a:pt x="904805" y="1125747"/>
                </a:lnTo>
                <a:lnTo>
                  <a:pt x="0" y="1125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extBox 34"/>
          <p:cNvSpPr txBox="1"/>
          <p:nvPr/>
        </p:nvSpPr>
        <p:spPr>
          <a:xfrm>
            <a:off x="1323459" y="2796325"/>
            <a:ext cx="3821458" cy="92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771"/>
              </a:lnSpc>
              <a:spcBef>
                <a:spcPct val="0"/>
              </a:spcBef>
            </a:pPr>
            <a:r>
              <a:rPr lang="en-US" sz="2693" spc="1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Effective risk and cost management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60728" y="5277913"/>
            <a:ext cx="3768926" cy="139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771"/>
              </a:lnSpc>
              <a:spcBef>
                <a:spcPct val="0"/>
              </a:spcBef>
            </a:pPr>
            <a:r>
              <a:rPr lang="en-US" sz="2693" spc="1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Safeguarding reputation through assurance services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016691" y="8099173"/>
            <a:ext cx="4241718" cy="92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771"/>
              </a:lnSpc>
              <a:spcBef>
                <a:spcPct val="0"/>
              </a:spcBef>
            </a:pPr>
            <a:r>
              <a:rPr lang="en-US" sz="2693" spc="1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Process efficiency and digital transformation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945447" y="6187913"/>
            <a:ext cx="4313853" cy="92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771"/>
              </a:lnSpc>
              <a:spcBef>
                <a:spcPct val="0"/>
              </a:spcBef>
            </a:pPr>
            <a:r>
              <a:rPr lang="en-US" sz="2693" spc="1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Simplifying compliance complexities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119920" y="2841030"/>
            <a:ext cx="3111192" cy="92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1"/>
              </a:lnSpc>
            </a:pPr>
            <a:r>
              <a:rPr lang="en-US" sz="2693" spc="1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Deep knowledge</a:t>
            </a:r>
          </a:p>
          <a:p>
            <a:pPr algn="l">
              <a:lnSpc>
                <a:spcPts val="3771"/>
              </a:lnSpc>
              <a:spcBef>
                <a:spcPct val="0"/>
              </a:spcBef>
            </a:pPr>
            <a:r>
              <a:rPr lang="en-US" sz="2693" spc="10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insights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0" y="-13073"/>
            <a:ext cx="18288000" cy="138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CB1944"/>
                </a:solidFill>
                <a:latin typeface="Archivo Black"/>
                <a:sym typeface="Archivo Black"/>
              </a:rPr>
              <a:t>VALUE PROPOSITION</a:t>
            </a:r>
          </a:p>
        </p:txBody>
      </p:sp>
      <p:sp>
        <p:nvSpPr>
          <p:cNvPr id="41" name="AutoShape 41"/>
          <p:cNvSpPr/>
          <p:nvPr/>
        </p:nvSpPr>
        <p:spPr>
          <a:xfrm flipH="1">
            <a:off x="2939429" y="1383971"/>
            <a:ext cx="328612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3" name="Freeform 20">
            <a:extLst>
              <a:ext uri="{FF2B5EF4-FFF2-40B4-BE49-F238E27FC236}">
                <a16:creationId xmlns:a16="http://schemas.microsoft.com/office/drawing/2014/main" id="{2C150148-CDB7-455A-9EDC-363C48E0C9E1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002786"/>
            <a:ext cx="8198381" cy="8284214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96" b="-1875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63384" y="3494402"/>
            <a:ext cx="1256433" cy="1115829"/>
            <a:chOff x="0" y="0"/>
            <a:chExt cx="2930761" cy="26027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30761" cy="2602787"/>
            </a:xfrm>
            <a:custGeom>
              <a:avLst/>
              <a:gdLst/>
              <a:ahLst/>
              <a:cxnLst/>
              <a:rect l="l" t="t" r="r" b="b"/>
              <a:pathLst>
                <a:path w="2930761" h="2602787">
                  <a:moveTo>
                    <a:pt x="2625961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297987"/>
                  </a:lnTo>
                  <a:cubicBezTo>
                    <a:pt x="0" y="2466897"/>
                    <a:pt x="135890" y="2602787"/>
                    <a:pt x="304800" y="2602787"/>
                  </a:cubicBezTo>
                  <a:lnTo>
                    <a:pt x="2625961" y="2602787"/>
                  </a:lnTo>
                  <a:cubicBezTo>
                    <a:pt x="2794871" y="2602787"/>
                    <a:pt x="2930761" y="2466897"/>
                    <a:pt x="2930761" y="2297987"/>
                  </a:cubicBezTo>
                  <a:lnTo>
                    <a:pt x="2930761" y="304800"/>
                  </a:lnTo>
                  <a:cubicBezTo>
                    <a:pt x="2930761" y="135890"/>
                    <a:pt x="2794871" y="0"/>
                    <a:pt x="2625961" y="0"/>
                  </a:cubicBezTo>
                  <a:close/>
                </a:path>
              </a:pathLst>
            </a:custGeom>
            <a:solidFill>
              <a:srgbClr val="CB194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AutoShape 5"/>
          <p:cNvSpPr/>
          <p:nvPr/>
        </p:nvSpPr>
        <p:spPr>
          <a:xfrm>
            <a:off x="8802359" y="5635219"/>
            <a:ext cx="506840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7343935" y="4686145"/>
            <a:ext cx="1467949" cy="1373793"/>
            <a:chOff x="0" y="0"/>
            <a:chExt cx="3424145" cy="32045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24145" cy="3204517"/>
            </a:xfrm>
            <a:custGeom>
              <a:avLst/>
              <a:gdLst/>
              <a:ahLst/>
              <a:cxnLst/>
              <a:rect l="l" t="t" r="r" b="b"/>
              <a:pathLst>
                <a:path w="3424145" h="3204517">
                  <a:moveTo>
                    <a:pt x="3119345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899717"/>
                  </a:lnTo>
                  <a:cubicBezTo>
                    <a:pt x="0" y="3068626"/>
                    <a:pt x="135890" y="3204517"/>
                    <a:pt x="304800" y="3204517"/>
                  </a:cubicBezTo>
                  <a:lnTo>
                    <a:pt x="3119345" y="3204517"/>
                  </a:lnTo>
                  <a:cubicBezTo>
                    <a:pt x="3288255" y="3204517"/>
                    <a:pt x="3424145" y="3068626"/>
                    <a:pt x="3424145" y="2899717"/>
                  </a:cubicBezTo>
                  <a:lnTo>
                    <a:pt x="3424145" y="304800"/>
                  </a:lnTo>
                  <a:cubicBezTo>
                    <a:pt x="3424145" y="135890"/>
                    <a:pt x="3288255" y="0"/>
                    <a:pt x="3119345" y="0"/>
                  </a:cubicBezTo>
                  <a:close/>
                </a:path>
              </a:pathLst>
            </a:custGeom>
            <a:solidFill>
              <a:srgbClr val="CB194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3253" y="7636026"/>
            <a:ext cx="1361363" cy="1235496"/>
            <a:chOff x="0" y="0"/>
            <a:chExt cx="3175521" cy="2881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75521" cy="2881924"/>
            </a:xfrm>
            <a:custGeom>
              <a:avLst/>
              <a:gdLst/>
              <a:ahLst/>
              <a:cxnLst/>
              <a:rect l="l" t="t" r="r" b="b"/>
              <a:pathLst>
                <a:path w="3175521" h="2881924">
                  <a:moveTo>
                    <a:pt x="2870721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577124"/>
                  </a:lnTo>
                  <a:cubicBezTo>
                    <a:pt x="0" y="2746034"/>
                    <a:pt x="135890" y="2881924"/>
                    <a:pt x="304800" y="2881924"/>
                  </a:cubicBezTo>
                  <a:lnTo>
                    <a:pt x="2870721" y="2881924"/>
                  </a:lnTo>
                  <a:cubicBezTo>
                    <a:pt x="3039631" y="2881924"/>
                    <a:pt x="3175521" y="2746034"/>
                    <a:pt x="3175521" y="2577124"/>
                  </a:cubicBezTo>
                  <a:lnTo>
                    <a:pt x="3175521" y="304800"/>
                  </a:lnTo>
                  <a:cubicBezTo>
                    <a:pt x="3175521" y="135890"/>
                    <a:pt x="3039631" y="0"/>
                    <a:pt x="2870721" y="0"/>
                  </a:cubicBezTo>
                  <a:close/>
                </a:path>
              </a:pathLst>
            </a:custGeom>
            <a:solidFill>
              <a:srgbClr val="CB1944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31034" y="6059939"/>
            <a:ext cx="1574535" cy="1379800"/>
            <a:chOff x="0" y="0"/>
            <a:chExt cx="3672768" cy="32185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72768" cy="3218527"/>
            </a:xfrm>
            <a:custGeom>
              <a:avLst/>
              <a:gdLst/>
              <a:ahLst/>
              <a:cxnLst/>
              <a:rect l="l" t="t" r="r" b="b"/>
              <a:pathLst>
                <a:path w="3672768" h="3218527">
                  <a:moveTo>
                    <a:pt x="3367968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913727"/>
                  </a:lnTo>
                  <a:cubicBezTo>
                    <a:pt x="0" y="3082637"/>
                    <a:pt x="135890" y="3218527"/>
                    <a:pt x="304800" y="3218527"/>
                  </a:cubicBezTo>
                  <a:lnTo>
                    <a:pt x="3367968" y="3218527"/>
                  </a:lnTo>
                  <a:cubicBezTo>
                    <a:pt x="3536878" y="3218527"/>
                    <a:pt x="3672768" y="3082637"/>
                    <a:pt x="3672768" y="2913727"/>
                  </a:cubicBezTo>
                  <a:lnTo>
                    <a:pt x="3672768" y="304800"/>
                  </a:lnTo>
                  <a:cubicBezTo>
                    <a:pt x="3672768" y="135890"/>
                    <a:pt x="3536878" y="0"/>
                    <a:pt x="3367968" y="0"/>
                  </a:cubicBezTo>
                  <a:close/>
                </a:path>
              </a:pathLst>
            </a:custGeom>
            <a:solidFill>
              <a:srgbClr val="CB1944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9384320" y="2818359"/>
            <a:ext cx="692472" cy="91977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AutoShape 13"/>
          <p:cNvSpPr/>
          <p:nvPr/>
        </p:nvSpPr>
        <p:spPr>
          <a:xfrm>
            <a:off x="8024616" y="8361781"/>
            <a:ext cx="567600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AutoShape 14"/>
          <p:cNvSpPr/>
          <p:nvPr/>
        </p:nvSpPr>
        <p:spPr>
          <a:xfrm rot="-4500000">
            <a:off x="6432317" y="5582926"/>
            <a:ext cx="5753764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AutoShape 15"/>
          <p:cNvSpPr/>
          <p:nvPr/>
        </p:nvSpPr>
        <p:spPr>
          <a:xfrm>
            <a:off x="9718220" y="4100488"/>
            <a:ext cx="554689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>
            <a:off x="8929026" y="6929996"/>
            <a:ext cx="702008" cy="0"/>
          </a:xfrm>
          <a:prstGeom prst="line">
            <a:avLst/>
          </a:prstGeom>
          <a:ln w="28575" cap="flat">
            <a:solidFill>
              <a:srgbClr val="3C567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1695370" y="5080054"/>
            <a:ext cx="6592630" cy="5206946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9224" b="-8893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7871102" y="2200268"/>
            <a:ext cx="1574535" cy="1236180"/>
            <a:chOff x="0" y="0"/>
            <a:chExt cx="2099380" cy="164824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2099380" cy="1648240"/>
              <a:chOff x="0" y="0"/>
              <a:chExt cx="3672768" cy="288352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672768" cy="2883520"/>
              </a:xfrm>
              <a:custGeom>
                <a:avLst/>
                <a:gdLst/>
                <a:ahLst/>
                <a:cxnLst/>
                <a:rect l="l" t="t" r="r" b="b"/>
                <a:pathLst>
                  <a:path w="3672768" h="2883520">
                    <a:moveTo>
                      <a:pt x="3367968" y="0"/>
                    </a:moveTo>
                    <a:lnTo>
                      <a:pt x="304800" y="0"/>
                    </a:lnTo>
                    <a:cubicBezTo>
                      <a:pt x="135890" y="0"/>
                      <a:pt x="0" y="135890"/>
                      <a:pt x="0" y="304800"/>
                    </a:cubicBezTo>
                    <a:lnTo>
                      <a:pt x="0" y="2578720"/>
                    </a:lnTo>
                    <a:cubicBezTo>
                      <a:pt x="0" y="2747630"/>
                      <a:pt x="135890" y="2883520"/>
                      <a:pt x="304800" y="2883520"/>
                    </a:cubicBezTo>
                    <a:lnTo>
                      <a:pt x="3367968" y="2883520"/>
                    </a:lnTo>
                    <a:cubicBezTo>
                      <a:pt x="3536878" y="2883520"/>
                      <a:pt x="3672768" y="2747630"/>
                      <a:pt x="3672768" y="2578720"/>
                    </a:cubicBezTo>
                    <a:lnTo>
                      <a:pt x="3672768" y="304800"/>
                    </a:lnTo>
                    <a:cubicBezTo>
                      <a:pt x="3672768" y="135890"/>
                      <a:pt x="3536878" y="0"/>
                      <a:pt x="3367968" y="0"/>
                    </a:cubicBezTo>
                    <a:close/>
                  </a:path>
                </a:pathLst>
              </a:custGeom>
              <a:solidFill>
                <a:srgbClr val="CB1944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523307" y="173534"/>
              <a:ext cx="1052766" cy="1301171"/>
            </a:xfrm>
            <a:custGeom>
              <a:avLst/>
              <a:gdLst/>
              <a:ahLst/>
              <a:cxnLst/>
              <a:rect l="l" t="t" r="r" b="b"/>
              <a:pathLst>
                <a:path w="1052766" h="1301171">
                  <a:moveTo>
                    <a:pt x="0" y="0"/>
                  </a:moveTo>
                  <a:lnTo>
                    <a:pt x="1052766" y="0"/>
                  </a:lnTo>
                  <a:lnTo>
                    <a:pt x="1052766" y="1301172"/>
                  </a:lnTo>
                  <a:lnTo>
                    <a:pt x="0" y="1301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Freeform 22"/>
          <p:cNvSpPr/>
          <p:nvPr/>
        </p:nvSpPr>
        <p:spPr>
          <a:xfrm>
            <a:off x="9953284" y="6136139"/>
            <a:ext cx="1027960" cy="1043133"/>
          </a:xfrm>
          <a:custGeom>
            <a:avLst/>
            <a:gdLst/>
            <a:ahLst/>
            <a:cxnLst/>
            <a:rect l="l" t="t" r="r" b="b"/>
            <a:pathLst>
              <a:path w="1027960" h="1043133">
                <a:moveTo>
                  <a:pt x="0" y="0"/>
                </a:moveTo>
                <a:lnTo>
                  <a:pt x="1027960" y="0"/>
                </a:lnTo>
                <a:lnTo>
                  <a:pt x="1027960" y="1043132"/>
                </a:lnTo>
                <a:lnTo>
                  <a:pt x="0" y="10431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23"/>
          <p:cNvSpPr/>
          <p:nvPr/>
        </p:nvSpPr>
        <p:spPr>
          <a:xfrm>
            <a:off x="6769840" y="7759009"/>
            <a:ext cx="1148191" cy="989531"/>
          </a:xfrm>
          <a:custGeom>
            <a:avLst/>
            <a:gdLst/>
            <a:ahLst/>
            <a:cxnLst/>
            <a:rect l="l" t="t" r="r" b="b"/>
            <a:pathLst>
              <a:path w="1148191" h="989531">
                <a:moveTo>
                  <a:pt x="0" y="0"/>
                </a:moveTo>
                <a:lnTo>
                  <a:pt x="1148190" y="0"/>
                </a:lnTo>
                <a:lnTo>
                  <a:pt x="1148190" y="989531"/>
                </a:lnTo>
                <a:lnTo>
                  <a:pt x="0" y="989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24"/>
          <p:cNvSpPr/>
          <p:nvPr/>
        </p:nvSpPr>
        <p:spPr>
          <a:xfrm>
            <a:off x="10429164" y="3603956"/>
            <a:ext cx="928806" cy="896720"/>
          </a:xfrm>
          <a:custGeom>
            <a:avLst/>
            <a:gdLst/>
            <a:ahLst/>
            <a:cxnLst/>
            <a:rect l="l" t="t" r="r" b="b"/>
            <a:pathLst>
              <a:path w="928806" h="896720">
                <a:moveTo>
                  <a:pt x="0" y="0"/>
                </a:moveTo>
                <a:lnTo>
                  <a:pt x="928805" y="0"/>
                </a:lnTo>
                <a:lnTo>
                  <a:pt x="928805" y="896720"/>
                </a:lnTo>
                <a:lnTo>
                  <a:pt x="0" y="896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>
            <a:off x="7516428" y="4894168"/>
            <a:ext cx="1016377" cy="975722"/>
          </a:xfrm>
          <a:custGeom>
            <a:avLst/>
            <a:gdLst/>
            <a:ahLst/>
            <a:cxnLst/>
            <a:rect l="l" t="t" r="r" b="b"/>
            <a:pathLst>
              <a:path w="1016377" h="975722">
                <a:moveTo>
                  <a:pt x="0" y="0"/>
                </a:moveTo>
                <a:lnTo>
                  <a:pt x="1016377" y="0"/>
                </a:lnTo>
                <a:lnTo>
                  <a:pt x="1016377" y="975722"/>
                </a:lnTo>
                <a:lnTo>
                  <a:pt x="0" y="9757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2578894" y="-13073"/>
            <a:ext cx="13130212" cy="138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spc="240" dirty="0">
                <a:solidFill>
                  <a:srgbClr val="CB1944"/>
                </a:solidFill>
                <a:latin typeface="Archivo Black"/>
                <a:ea typeface="Archivo Black"/>
                <a:cs typeface="Archivo Black"/>
                <a:sym typeface="Archivo Black"/>
              </a:rPr>
              <a:t>JH</a:t>
            </a:r>
            <a:r>
              <a:rPr lang="en-US" sz="8000" u="none" strike="noStrike" spc="240" dirty="0">
                <a:solidFill>
                  <a:srgbClr val="CB1944"/>
                </a:solidFill>
                <a:latin typeface="Archivo Black"/>
                <a:ea typeface="Archivo Black"/>
                <a:cs typeface="Archivo Black"/>
                <a:sym typeface="Archivo Black"/>
              </a:rPr>
              <a:t>S</a:t>
            </a:r>
            <a:r>
              <a:rPr lang="en-US" sz="8000" u="none" strike="noStrike" spc="240" dirty="0">
                <a:solidFill>
                  <a:srgbClr val="F8CF40"/>
                </a:solidFill>
                <a:latin typeface="Archivo Black"/>
                <a:ea typeface="Archivo Black"/>
                <a:cs typeface="Archivo Black"/>
                <a:sym typeface="Archivo Black"/>
              </a:rPr>
              <a:t> GOLD </a:t>
            </a:r>
            <a:r>
              <a:rPr lang="en-US" sz="8000" u="none" strike="noStrike" spc="240" dirty="0">
                <a:solidFill>
                  <a:srgbClr val="CB1944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STANDARD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60716" y="1755446"/>
            <a:ext cx="7100836" cy="2125825"/>
            <a:chOff x="0" y="0"/>
            <a:chExt cx="9467782" cy="2834434"/>
          </a:xfrm>
        </p:grpSpPr>
        <p:sp>
          <p:nvSpPr>
            <p:cNvPr id="28" name="TextBox 28"/>
            <p:cNvSpPr txBox="1"/>
            <p:nvPr/>
          </p:nvSpPr>
          <p:spPr>
            <a:xfrm>
              <a:off x="459068" y="-57150"/>
              <a:ext cx="7287218" cy="654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D0D0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QUALITY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837359"/>
              <a:ext cx="9467782" cy="1997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2" lvl="1" indent="-215901" algn="l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3B3B3B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</a:t>
              </a:r>
              <a:r>
                <a:rPr lang="en-US" sz="2000" u="none" strike="noStrike">
                  <a:solidFill>
                    <a:srgbClr val="3B3B3B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elighting stakeholders by exceeding expectations.</a:t>
              </a:r>
            </a:p>
            <a:p>
              <a:pPr marL="431802" lvl="1" indent="-215901" algn="l">
                <a:lnSpc>
                  <a:spcPts val="3000"/>
                </a:lnSpc>
                <a:buFont typeface="Arial"/>
                <a:buChar char="•"/>
              </a:pPr>
              <a:r>
                <a:rPr lang="en-US" sz="2000" u="none" strike="noStrike">
                  <a:solidFill>
                    <a:srgbClr val="3B3B3B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Aiming for excellence by maintaining high standards of professional practice and service execution.</a:t>
              </a:r>
            </a:p>
            <a:p>
              <a:pPr marL="431802" lvl="1" indent="-215901" algn="l">
                <a:lnSpc>
                  <a:spcPts val="3000"/>
                </a:lnSpc>
                <a:buFont typeface="Arial"/>
                <a:buChar char="•"/>
              </a:pPr>
              <a:r>
                <a:rPr lang="en-US" sz="2000" u="none" strike="noStrike">
                  <a:solidFill>
                    <a:srgbClr val="3B3B3B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Displaying high levels of commitment and passion.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92636" y="4658719"/>
            <a:ext cx="5108403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D0D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8560" y="6934913"/>
            <a:ext cx="5974693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D0D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MUTUAL TRUST &amp; RESPECT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0716" y="7569351"/>
            <a:ext cx="5838660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Work</a:t>
            </a:r>
            <a:r>
              <a:rPr lang="en-US" sz="2000" u="none" strike="noStrike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ing relationships are based on fulfilling commitments to develop trust.</a:t>
            </a:r>
          </a:p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000" u="none" strike="noStrike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Honesty and integrity as the best business ethics.</a:t>
            </a:r>
          </a:p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000" u="none" strike="noStrike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Transparent dealings.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2636" y="5315354"/>
            <a:ext cx="6636996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Committing to integrity, independence &amp; accountability adds value to clients as an objective source of advice and assurance.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018910" y="2313533"/>
            <a:ext cx="4730840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D0D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FAIRNESS IN DEALINGS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881767" y="3090696"/>
            <a:ext cx="5159991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Fa</a:t>
            </a:r>
            <a:r>
              <a:rPr lang="en-US" sz="2000" u="none" strike="noStrike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irness in dealings with customers, employees and vendors.</a:t>
            </a:r>
          </a:p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000" u="none" strike="noStrike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Open and co-operative dealings with regulators.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18910" y="5524630"/>
            <a:ext cx="6269090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D0D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 ORIENTED APPROACH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81767" y="6214048"/>
            <a:ext cx="5432091" cy="303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Analyt</a:t>
            </a:r>
            <a:r>
              <a:rPr lang="en-US" sz="2000" u="none" strike="noStrike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ical thinking coupled with business understanding and problem-solving.</a:t>
            </a:r>
          </a:p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000" u="none" strike="noStrike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Working as a catalyst for improvement through effective assessment of opportunities &amp; risks.</a:t>
            </a:r>
          </a:p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000" u="none" strike="noStrike">
                <a:solidFill>
                  <a:srgbClr val="3B3B3B"/>
                </a:solidFill>
                <a:latin typeface="Open Sauce"/>
                <a:ea typeface="Open Sauce"/>
                <a:cs typeface="Open Sauce"/>
                <a:sym typeface="Open Sauce"/>
              </a:rPr>
              <a:t>Personalized attention to clients and result orientation.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7</a:t>
            </a:r>
          </a:p>
        </p:txBody>
      </p:sp>
      <p:sp>
        <p:nvSpPr>
          <p:cNvPr id="40" name="Freeform 20">
            <a:extLst>
              <a:ext uri="{FF2B5EF4-FFF2-40B4-BE49-F238E27FC236}">
                <a16:creationId xmlns:a16="http://schemas.microsoft.com/office/drawing/2014/main" id="{499AFDA5-3C64-46CF-BA53-6BF049C299C0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002786"/>
            <a:ext cx="8198381" cy="8284214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96" b="-1875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1847770" y="5247694"/>
            <a:ext cx="6440230" cy="5054546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r="-52754" b="-9463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241087" y="1943100"/>
            <a:ext cx="3326893" cy="2474794"/>
            <a:chOff x="0" y="0"/>
            <a:chExt cx="5702300" cy="4241800"/>
          </a:xfrm>
        </p:grpSpPr>
        <p:sp>
          <p:nvSpPr>
            <p:cNvPr id="6" name="Freeform 6"/>
            <p:cNvSpPr/>
            <p:nvPr/>
          </p:nvSpPr>
          <p:spPr>
            <a:xfrm>
              <a:off x="0" y="3797300"/>
              <a:ext cx="5702300" cy="444500"/>
            </a:xfrm>
            <a:custGeom>
              <a:avLst/>
              <a:gdLst/>
              <a:ahLst/>
              <a:cxnLst/>
              <a:rect l="l" t="t" r="r" b="b"/>
              <a:pathLst>
                <a:path w="5702300" h="444500">
                  <a:moveTo>
                    <a:pt x="0" y="0"/>
                  </a:moveTo>
                  <a:lnTo>
                    <a:pt x="5702300" y="0"/>
                  </a:lnTo>
                  <a:lnTo>
                    <a:pt x="5702300" y="444500"/>
                  </a:lnTo>
                  <a:lnTo>
                    <a:pt x="0" y="444500"/>
                  </a:lnTo>
                  <a:close/>
                </a:path>
              </a:pathLst>
            </a:custGeom>
            <a:solidFill>
              <a:srgbClr val="2059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5702300" cy="3797300"/>
            </a:xfrm>
            <a:custGeom>
              <a:avLst/>
              <a:gdLst/>
              <a:ahLst/>
              <a:cxnLst/>
              <a:rect l="l" t="t" r="r" b="b"/>
              <a:pathLst>
                <a:path w="5702300" h="3797300">
                  <a:moveTo>
                    <a:pt x="0" y="0"/>
                  </a:moveTo>
                  <a:lnTo>
                    <a:pt x="5702300" y="0"/>
                  </a:lnTo>
                  <a:lnTo>
                    <a:pt x="5702300" y="3797300"/>
                  </a:lnTo>
                  <a:lnTo>
                    <a:pt x="0" y="3797300"/>
                  </a:lnTo>
                  <a:close/>
                </a:path>
              </a:pathLst>
            </a:custGeom>
            <a:blipFill>
              <a:blip r:embed="rId4"/>
              <a:stretch>
                <a:fillRect l="-8286" r="-828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268611" y="1943100"/>
            <a:ext cx="3326893" cy="2474794"/>
            <a:chOff x="0" y="0"/>
            <a:chExt cx="5702300" cy="4241800"/>
          </a:xfrm>
        </p:grpSpPr>
        <p:sp>
          <p:nvSpPr>
            <p:cNvPr id="9" name="Freeform 9"/>
            <p:cNvSpPr/>
            <p:nvPr/>
          </p:nvSpPr>
          <p:spPr>
            <a:xfrm>
              <a:off x="0" y="3797300"/>
              <a:ext cx="5702300" cy="444500"/>
            </a:xfrm>
            <a:custGeom>
              <a:avLst/>
              <a:gdLst/>
              <a:ahLst/>
              <a:cxnLst/>
              <a:rect l="l" t="t" r="r" b="b"/>
              <a:pathLst>
                <a:path w="5702300" h="444500">
                  <a:moveTo>
                    <a:pt x="0" y="0"/>
                  </a:moveTo>
                  <a:lnTo>
                    <a:pt x="5702300" y="0"/>
                  </a:lnTo>
                  <a:lnTo>
                    <a:pt x="5702300" y="444500"/>
                  </a:lnTo>
                  <a:lnTo>
                    <a:pt x="0" y="444500"/>
                  </a:lnTo>
                  <a:close/>
                </a:path>
              </a:pathLst>
            </a:custGeom>
            <a:solidFill>
              <a:srgbClr val="CB194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5702300" cy="3797300"/>
            </a:xfrm>
            <a:custGeom>
              <a:avLst/>
              <a:gdLst/>
              <a:ahLst/>
              <a:cxnLst/>
              <a:rect l="l" t="t" r="r" b="b"/>
              <a:pathLst>
                <a:path w="5702300" h="3797300">
                  <a:moveTo>
                    <a:pt x="0" y="0"/>
                  </a:moveTo>
                  <a:lnTo>
                    <a:pt x="5702300" y="0"/>
                  </a:lnTo>
                  <a:lnTo>
                    <a:pt x="5702300" y="3797300"/>
                  </a:lnTo>
                  <a:lnTo>
                    <a:pt x="0" y="3797300"/>
                  </a:lnTo>
                  <a:close/>
                </a:path>
              </a:pathLst>
            </a:custGeom>
            <a:blipFill>
              <a:blip r:embed="rId5"/>
              <a:stretch>
                <a:fillRect t="-24" b="-2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3085718" y="1943100"/>
            <a:ext cx="3326893" cy="2474794"/>
            <a:chOff x="0" y="0"/>
            <a:chExt cx="5702300" cy="4241800"/>
          </a:xfrm>
        </p:grpSpPr>
        <p:sp>
          <p:nvSpPr>
            <p:cNvPr id="12" name="Freeform 12"/>
            <p:cNvSpPr/>
            <p:nvPr/>
          </p:nvSpPr>
          <p:spPr>
            <a:xfrm>
              <a:off x="0" y="3797300"/>
              <a:ext cx="5702300" cy="444500"/>
            </a:xfrm>
            <a:custGeom>
              <a:avLst/>
              <a:gdLst/>
              <a:ahLst/>
              <a:cxnLst/>
              <a:rect l="l" t="t" r="r" b="b"/>
              <a:pathLst>
                <a:path w="5702300" h="444500">
                  <a:moveTo>
                    <a:pt x="0" y="0"/>
                  </a:moveTo>
                  <a:lnTo>
                    <a:pt x="5702300" y="0"/>
                  </a:lnTo>
                  <a:lnTo>
                    <a:pt x="5702300" y="444500"/>
                  </a:lnTo>
                  <a:lnTo>
                    <a:pt x="0" y="444500"/>
                  </a:lnTo>
                  <a:close/>
                </a:path>
              </a:pathLst>
            </a:custGeom>
            <a:solidFill>
              <a:srgbClr val="2059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5702300" cy="3797300"/>
            </a:xfrm>
            <a:custGeom>
              <a:avLst/>
              <a:gdLst/>
              <a:ahLst/>
              <a:cxnLst/>
              <a:rect l="l" t="t" r="r" b="b"/>
              <a:pathLst>
                <a:path w="5702300" h="3797300">
                  <a:moveTo>
                    <a:pt x="0" y="0"/>
                  </a:moveTo>
                  <a:lnTo>
                    <a:pt x="5702300" y="0"/>
                  </a:lnTo>
                  <a:lnTo>
                    <a:pt x="5702300" y="3797300"/>
                  </a:lnTo>
                  <a:lnTo>
                    <a:pt x="0" y="3797300"/>
                  </a:lnTo>
                  <a:close/>
                </a:path>
              </a:pathLst>
            </a:custGeom>
            <a:blipFill>
              <a:blip r:embed="rId6"/>
              <a:stretch>
                <a:fillRect l="-9193" r="-919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8505" y="4914900"/>
            <a:ext cx="3326893" cy="564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72"/>
              </a:lnSpc>
              <a:spcBef>
                <a:spcPct val="0"/>
              </a:spcBef>
            </a:pPr>
            <a:r>
              <a:rPr lang="en-US" sz="1622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Enhancing trust through reliable, transparent financial reporting.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8025" y="4621172"/>
            <a:ext cx="3326893" cy="303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2307"/>
              </a:lnSpc>
              <a:spcBef>
                <a:spcPct val="0"/>
              </a:spcBef>
            </a:pPr>
            <a:r>
              <a:rPr lang="en-US" sz="2307" u="none" strike="noStrike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ASSURANCE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45674" y="4914900"/>
            <a:ext cx="3326893" cy="564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72"/>
              </a:lnSpc>
              <a:spcBef>
                <a:spcPct val="0"/>
              </a:spcBef>
            </a:pPr>
            <a:r>
              <a:rPr lang="en-US" sz="1622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Strategic guidance to drive growth, efficiency, and transformation.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47677" y="4621172"/>
            <a:ext cx="3326893" cy="303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2307"/>
              </a:lnSpc>
              <a:spcBef>
                <a:spcPct val="0"/>
              </a:spcBef>
            </a:pPr>
            <a:r>
              <a:rPr lang="en-US" sz="2307" u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CONSULTING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62780" y="4914900"/>
            <a:ext cx="3326893" cy="564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72"/>
              </a:lnSpc>
              <a:spcBef>
                <a:spcPct val="0"/>
              </a:spcBef>
            </a:pPr>
            <a:r>
              <a:rPr lang="en-US" sz="1622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Expert tax planning and compliance for smarter financial outcomes.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68350" y="4621172"/>
            <a:ext cx="3326893" cy="303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2307"/>
              </a:lnSpc>
              <a:spcBef>
                <a:spcPct val="0"/>
              </a:spcBef>
            </a:pPr>
            <a:r>
              <a:rPr lang="en-US" sz="2307" u="none" strike="noStrike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TAXATION</a:t>
            </a:r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241087" y="6081110"/>
            <a:ext cx="3326893" cy="2474794"/>
            <a:chOff x="0" y="0"/>
            <a:chExt cx="5702300" cy="4241800"/>
          </a:xfrm>
        </p:grpSpPr>
        <p:sp>
          <p:nvSpPr>
            <p:cNvPr id="21" name="Freeform 21"/>
            <p:cNvSpPr/>
            <p:nvPr/>
          </p:nvSpPr>
          <p:spPr>
            <a:xfrm>
              <a:off x="0" y="3797300"/>
              <a:ext cx="5702300" cy="444500"/>
            </a:xfrm>
            <a:custGeom>
              <a:avLst/>
              <a:gdLst/>
              <a:ahLst/>
              <a:cxnLst/>
              <a:rect l="l" t="t" r="r" b="b"/>
              <a:pathLst>
                <a:path w="5702300" h="444500">
                  <a:moveTo>
                    <a:pt x="0" y="0"/>
                  </a:moveTo>
                  <a:lnTo>
                    <a:pt x="5702300" y="0"/>
                  </a:lnTo>
                  <a:lnTo>
                    <a:pt x="5702300" y="444500"/>
                  </a:lnTo>
                  <a:lnTo>
                    <a:pt x="0" y="444500"/>
                  </a:lnTo>
                  <a:close/>
                </a:path>
              </a:pathLst>
            </a:custGeom>
            <a:solidFill>
              <a:srgbClr val="CB194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5702300" cy="3797300"/>
            </a:xfrm>
            <a:custGeom>
              <a:avLst/>
              <a:gdLst/>
              <a:ahLst/>
              <a:cxnLst/>
              <a:rect l="l" t="t" r="r" b="b"/>
              <a:pathLst>
                <a:path w="5702300" h="3797300">
                  <a:moveTo>
                    <a:pt x="0" y="0"/>
                  </a:moveTo>
                  <a:lnTo>
                    <a:pt x="5702300" y="0"/>
                  </a:lnTo>
                  <a:lnTo>
                    <a:pt x="5702300" y="3797300"/>
                  </a:lnTo>
                  <a:lnTo>
                    <a:pt x="0" y="3797300"/>
                  </a:lnTo>
                  <a:close/>
                </a:path>
              </a:pathLst>
            </a:custGeom>
            <a:blipFill>
              <a:blip r:embed="rId7"/>
              <a:stretch>
                <a:fillRect t="-24" b="-2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16566" y="9317905"/>
            <a:ext cx="2598234" cy="85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 algn="ctr">
              <a:lnSpc>
                <a:spcPts val="2272"/>
              </a:lnSpc>
              <a:spcBef>
                <a:spcPct val="0"/>
              </a:spcBef>
              <a:defRPr sz="1622">
                <a:solidFill>
                  <a:srgbClr val="000000"/>
                </a:solidFill>
                <a:latin typeface="Aileron"/>
                <a:ea typeface="Aileron"/>
                <a:cs typeface="Aileron"/>
              </a:defRPr>
            </a:lvl1pPr>
          </a:lstStyle>
          <a:p>
            <a:r>
              <a:rPr lang="en-US" dirty="0">
                <a:sym typeface="Aileron"/>
              </a:rPr>
              <a:t>Reliable back-office support</a:t>
            </a:r>
          </a:p>
          <a:p>
            <a:r>
              <a:rPr lang="en-US" dirty="0">
                <a:sym typeface="Aileron"/>
              </a:rPr>
              <a:t> So you can focus on</a:t>
            </a:r>
          </a:p>
          <a:p>
            <a:r>
              <a:rPr lang="en-US" dirty="0">
                <a:sym typeface="Aileron"/>
              </a:rPr>
              <a:t> core growth.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817" y="8849076"/>
            <a:ext cx="2772411" cy="322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307"/>
              </a:lnSpc>
              <a:spcBef>
                <a:spcPct val="0"/>
              </a:spcBef>
            </a:pPr>
            <a:r>
              <a:rPr lang="en-US" sz="2307" u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OUTSOURCING</a:t>
            </a:r>
          </a:p>
        </p:txBody>
      </p:sp>
      <p:sp>
        <p:nvSpPr>
          <p:cNvPr id="25" name="AutoShape 25"/>
          <p:cNvSpPr/>
          <p:nvPr/>
        </p:nvSpPr>
        <p:spPr>
          <a:xfrm rot="-10800000">
            <a:off x="1028700" y="1562100"/>
            <a:ext cx="328612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1028700" y="368399"/>
            <a:ext cx="13340716" cy="1054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240" dirty="0">
                <a:solidFill>
                  <a:srgbClr val="CB1944"/>
                </a:solidFill>
                <a:latin typeface="Archivo Black"/>
                <a:sym typeface="Archivo Black"/>
              </a:rPr>
              <a:t>Professional Solutions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</a:p>
        </p:txBody>
      </p: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7314495" y="6081110"/>
            <a:ext cx="3326893" cy="2474794"/>
            <a:chOff x="0" y="0"/>
            <a:chExt cx="5702300" cy="4241800"/>
          </a:xfrm>
        </p:grpSpPr>
        <p:sp>
          <p:nvSpPr>
            <p:cNvPr id="29" name="Freeform 29"/>
            <p:cNvSpPr/>
            <p:nvPr/>
          </p:nvSpPr>
          <p:spPr>
            <a:xfrm>
              <a:off x="0" y="3797300"/>
              <a:ext cx="5702300" cy="444500"/>
            </a:xfrm>
            <a:custGeom>
              <a:avLst/>
              <a:gdLst/>
              <a:ahLst/>
              <a:cxnLst/>
              <a:rect l="l" t="t" r="r" b="b"/>
              <a:pathLst>
                <a:path w="5702300" h="444500">
                  <a:moveTo>
                    <a:pt x="0" y="0"/>
                  </a:moveTo>
                  <a:lnTo>
                    <a:pt x="5702300" y="0"/>
                  </a:lnTo>
                  <a:lnTo>
                    <a:pt x="5702300" y="444500"/>
                  </a:lnTo>
                  <a:lnTo>
                    <a:pt x="0" y="444500"/>
                  </a:lnTo>
                  <a:close/>
                </a:path>
              </a:pathLst>
            </a:custGeom>
            <a:solidFill>
              <a:srgbClr val="2059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5702300" cy="3797300"/>
            </a:xfrm>
            <a:custGeom>
              <a:avLst/>
              <a:gdLst/>
              <a:ahLst/>
              <a:cxnLst/>
              <a:rect l="l" t="t" r="r" b="b"/>
              <a:pathLst>
                <a:path w="5702300" h="3797300">
                  <a:moveTo>
                    <a:pt x="0" y="0"/>
                  </a:moveTo>
                  <a:lnTo>
                    <a:pt x="5702300" y="0"/>
                  </a:lnTo>
                  <a:lnTo>
                    <a:pt x="5702300" y="3797300"/>
                  </a:lnTo>
                  <a:lnTo>
                    <a:pt x="0" y="3797300"/>
                  </a:lnTo>
                  <a:close/>
                </a:path>
              </a:pathLst>
            </a:custGeom>
            <a:blipFill>
              <a:blip r:embed="rId8"/>
              <a:stretch>
                <a:fillRect t="-24" b="-24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91737" y="9317904"/>
            <a:ext cx="2772411" cy="568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2"/>
              </a:lnSpc>
              <a:spcBef>
                <a:spcPct val="0"/>
              </a:spcBef>
            </a:pPr>
            <a:r>
              <a:rPr lang="en-US" sz="1622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Sm</a:t>
            </a:r>
            <a:r>
              <a:rPr lang="en-US" sz="1622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art capital strategies for growth and risk management.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11446" y="8710597"/>
            <a:ext cx="2772411" cy="614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307"/>
              </a:lnSpc>
              <a:spcBef>
                <a:spcPct val="0"/>
              </a:spcBef>
            </a:pPr>
            <a:r>
              <a:rPr lang="en-US" sz="230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CORP</a:t>
            </a:r>
            <a:r>
              <a:rPr lang="en-US" sz="2307" u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ORATE FINANCE </a:t>
            </a:r>
          </a:p>
        </p:txBody>
      </p:sp>
      <p:grpSp>
        <p:nvGrpSpPr>
          <p:cNvPr id="34" name="Group 28">
            <a:extLst>
              <a:ext uri="{FF2B5EF4-FFF2-40B4-BE49-F238E27FC236}">
                <a16:creationId xmlns:a16="http://schemas.microsoft.com/office/drawing/2014/main" id="{DCD90F92-4F5D-42D0-85F8-2A9D83CEF0ED}"/>
              </a:ext>
            </a:extLst>
          </p:cNvPr>
          <p:cNvGrpSpPr>
            <a:grpSpLocks noChangeAspect="1"/>
          </p:cNvGrpSpPr>
          <p:nvPr/>
        </p:nvGrpSpPr>
        <p:grpSpPr>
          <a:xfrm>
            <a:off x="13093787" y="6084057"/>
            <a:ext cx="3335402" cy="2481124"/>
            <a:chOff x="0" y="0"/>
            <a:chExt cx="5702300" cy="4241800"/>
          </a:xfrm>
        </p:grpSpPr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0405E30D-4D9E-48BF-A88B-0F28FF43CBCD}"/>
                </a:ext>
              </a:extLst>
            </p:cNvPr>
            <p:cNvSpPr/>
            <p:nvPr/>
          </p:nvSpPr>
          <p:spPr>
            <a:xfrm>
              <a:off x="0" y="3797300"/>
              <a:ext cx="5702300" cy="444500"/>
            </a:xfrm>
            <a:custGeom>
              <a:avLst/>
              <a:gdLst/>
              <a:ahLst/>
              <a:cxnLst/>
              <a:rect l="l" t="t" r="r" b="b"/>
              <a:pathLst>
                <a:path w="5702300" h="444500">
                  <a:moveTo>
                    <a:pt x="0" y="0"/>
                  </a:moveTo>
                  <a:lnTo>
                    <a:pt x="5702300" y="0"/>
                  </a:lnTo>
                  <a:lnTo>
                    <a:pt x="5702300" y="444500"/>
                  </a:lnTo>
                  <a:lnTo>
                    <a:pt x="0" y="444500"/>
                  </a:lnTo>
                  <a:close/>
                </a:path>
              </a:pathLst>
            </a:custGeom>
            <a:solidFill>
              <a:srgbClr val="2059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F2173E5A-1DC6-402E-9226-1CCD4539A274}"/>
                </a:ext>
              </a:extLst>
            </p:cNvPr>
            <p:cNvSpPr/>
            <p:nvPr/>
          </p:nvSpPr>
          <p:spPr>
            <a:xfrm>
              <a:off x="0" y="0"/>
              <a:ext cx="5702300" cy="3797300"/>
            </a:xfrm>
            <a:custGeom>
              <a:avLst/>
              <a:gdLst/>
              <a:ahLst/>
              <a:cxnLst/>
              <a:rect l="l" t="t" r="r" b="b"/>
              <a:pathLst>
                <a:path w="5702300" h="3797300">
                  <a:moveTo>
                    <a:pt x="0" y="0"/>
                  </a:moveTo>
                  <a:lnTo>
                    <a:pt x="5702300" y="0"/>
                  </a:lnTo>
                  <a:lnTo>
                    <a:pt x="5702300" y="3797300"/>
                  </a:lnTo>
                  <a:lnTo>
                    <a:pt x="0" y="3797300"/>
                  </a:lnTo>
                  <a:close/>
                </a:path>
              </a:pathLst>
            </a:custGeom>
            <a:blipFill>
              <a:blip r:embed="rId8"/>
              <a:stretch>
                <a:fillRect t="-24" b="-2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TextBox 31">
            <a:extLst>
              <a:ext uri="{FF2B5EF4-FFF2-40B4-BE49-F238E27FC236}">
                <a16:creationId xmlns:a16="http://schemas.microsoft.com/office/drawing/2014/main" id="{A3B1722C-1D73-4B64-8E31-0620397BA773}"/>
              </a:ext>
            </a:extLst>
          </p:cNvPr>
          <p:cNvSpPr txBox="1"/>
          <p:nvPr/>
        </p:nvSpPr>
        <p:spPr>
          <a:xfrm>
            <a:off x="13093786" y="9320332"/>
            <a:ext cx="3670214" cy="564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72"/>
              </a:lnSpc>
              <a:spcBef>
                <a:spcPct val="0"/>
              </a:spcBef>
            </a:pPr>
            <a:r>
              <a:rPr lang="en-US" sz="1622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Strengthening governance and managing risk for sustainable growth.</a:t>
            </a:r>
            <a:endParaRPr lang="en-US" sz="1622" u="none" strike="noStrike" dirty="0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38" name="TextBox 32">
            <a:extLst>
              <a:ext uri="{FF2B5EF4-FFF2-40B4-BE49-F238E27FC236}">
                <a16:creationId xmlns:a16="http://schemas.microsoft.com/office/drawing/2014/main" id="{7D775734-2BB7-4D07-BE15-F050FF4573CB}"/>
              </a:ext>
            </a:extLst>
          </p:cNvPr>
          <p:cNvSpPr txBox="1"/>
          <p:nvPr/>
        </p:nvSpPr>
        <p:spPr>
          <a:xfrm>
            <a:off x="12689798" y="8711110"/>
            <a:ext cx="4143394" cy="59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2307"/>
              </a:lnSpc>
              <a:spcBef>
                <a:spcPct val="0"/>
              </a:spcBef>
            </a:pPr>
            <a:r>
              <a:rPr lang="en-US" sz="2307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COMPLIANCE, LEARNING &amp; INNOVATION</a:t>
            </a:r>
            <a:endParaRPr lang="en-US" sz="2307" u="none" strike="noStrike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CBDF54A-245B-4EF9-B897-02D3165C12E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1" b="29041"/>
          <a:stretch/>
        </p:blipFill>
        <p:spPr>
          <a:xfrm>
            <a:off x="13091707" y="6081110"/>
            <a:ext cx="3337481" cy="2224343"/>
          </a:xfrm>
          <a:prstGeom prst="rect">
            <a:avLst/>
          </a:prstGeom>
        </p:spPr>
      </p:pic>
      <p:sp>
        <p:nvSpPr>
          <p:cNvPr id="39" name="Freeform 20">
            <a:extLst>
              <a:ext uri="{FF2B5EF4-FFF2-40B4-BE49-F238E27FC236}">
                <a16:creationId xmlns:a16="http://schemas.microsoft.com/office/drawing/2014/main" id="{E857BF56-4C42-49A8-AAD4-CC6A0D8EDF79}"/>
              </a:ext>
            </a:extLst>
          </p:cNvPr>
          <p:cNvSpPr/>
          <p:nvPr/>
        </p:nvSpPr>
        <p:spPr>
          <a:xfrm>
            <a:off x="16764000" y="21936"/>
            <a:ext cx="1332357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40225" y="2002786"/>
            <a:ext cx="8238605" cy="8303591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9410" b="-1847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695370" y="5080054"/>
            <a:ext cx="6619841" cy="5226323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8610" b="-8823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6730374" y="3164015"/>
            <a:ext cx="4825389" cy="48253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3900000" flipH="1">
            <a:off x="7415425" y="8240973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1904706" y="0"/>
                </a:moveTo>
                <a:lnTo>
                  <a:pt x="0" y="0"/>
                </a:lnTo>
                <a:lnTo>
                  <a:pt x="0" y="114908"/>
                </a:lnTo>
                <a:lnTo>
                  <a:pt x="1904706" y="114908"/>
                </a:lnTo>
                <a:lnTo>
                  <a:pt x="19047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7446479" y="3997302"/>
            <a:ext cx="4109284" cy="4109284"/>
          </a:xfrm>
          <a:custGeom>
            <a:avLst/>
            <a:gdLst/>
            <a:ahLst/>
            <a:cxnLst/>
            <a:rect l="l" t="t" r="r" b="b"/>
            <a:pathLst>
              <a:path w="4109284" h="4109284">
                <a:moveTo>
                  <a:pt x="0" y="0"/>
                </a:moveTo>
                <a:lnTo>
                  <a:pt x="4109284" y="0"/>
                </a:lnTo>
                <a:lnTo>
                  <a:pt x="4109284" y="4109284"/>
                </a:lnTo>
                <a:lnTo>
                  <a:pt x="0" y="41092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-3900000">
            <a:off x="8927645" y="2723282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3900000">
            <a:off x="7447040" y="2732807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3900000">
            <a:off x="9022895" y="8240973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3240000">
            <a:off x="10333903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-3240000">
            <a:off x="7300662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 rot="3240000">
            <a:off x="730757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577" r="-9439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 rot="-3240000">
            <a:off x="1023026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68577" r="-9439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0184658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flipH="1">
            <a:off x="5314346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8"/>
                </a:lnTo>
                <a:lnTo>
                  <a:pt x="2785632" y="114908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0184658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 flipH="1">
            <a:off x="5314346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7"/>
                </a:lnTo>
                <a:lnTo>
                  <a:pt x="2785632" y="114907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7191575" y="3627343"/>
            <a:ext cx="3902987" cy="390298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0277333" y="1883477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 flipH="1">
            <a:off x="6548637" y="1883477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0854569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9" y="0"/>
                </a:lnTo>
                <a:lnTo>
                  <a:pt x="145485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 flipH="1">
            <a:off x="5983460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flipH="1">
            <a:off x="12022016" y="1336951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5037701" y="1336951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4466201" y="2780735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4"/>
                </a:lnTo>
                <a:lnTo>
                  <a:pt x="0" y="12480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 flipH="1">
            <a:off x="12593516" y="277121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4"/>
                </a:lnTo>
                <a:lnTo>
                  <a:pt x="1227782" y="1248064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7397587" y="4976895"/>
            <a:ext cx="3490964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392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Assurance Solutions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81667" y="1793293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Channel, Dealer &amp; Branch Partner Audits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6435" y="1793293"/>
            <a:ext cx="389266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Statutory &amp; Internal Audits for companies, trusts, funds, and firms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4935" y="3227552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IT, Cyber Security, and Digital KYC Audits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053167" y="3227552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Supply Chain &amp; Distribution Partner Audits</a:t>
            </a:r>
          </a:p>
        </p:txBody>
      </p:sp>
      <p:sp>
        <p:nvSpPr>
          <p:cNvPr id="37" name="Freeform 37"/>
          <p:cNvSpPr/>
          <p:nvPr/>
        </p:nvSpPr>
        <p:spPr>
          <a:xfrm flipH="1">
            <a:off x="13165016" y="420547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Box 38"/>
          <p:cNvSpPr txBox="1"/>
          <p:nvPr/>
        </p:nvSpPr>
        <p:spPr>
          <a:xfrm>
            <a:off x="14624667" y="4661812"/>
            <a:ext cx="2634633" cy="59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IPO, SOC &amp; SSAE-21 Certification Audits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6403" y="4661812"/>
            <a:ext cx="345969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Mystery/Decoy Shopping &amp; Forensic Audits</a:t>
            </a:r>
          </a:p>
        </p:txBody>
      </p:sp>
      <p:sp>
        <p:nvSpPr>
          <p:cNvPr id="40" name="Freeform 40"/>
          <p:cNvSpPr/>
          <p:nvPr/>
        </p:nvSpPr>
        <p:spPr>
          <a:xfrm flipH="1">
            <a:off x="13165016" y="563972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Box 41"/>
          <p:cNvSpPr txBox="1"/>
          <p:nvPr/>
        </p:nvSpPr>
        <p:spPr>
          <a:xfrm>
            <a:off x="14624667" y="6096071"/>
            <a:ext cx="366333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Ethics, ESG, Donor &amp; End-Use Audits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-226565" y="6096071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Concurrent &amp; Continuous Monitoring Audits</a:t>
            </a:r>
          </a:p>
        </p:txBody>
      </p:sp>
      <p:sp>
        <p:nvSpPr>
          <p:cNvPr id="43" name="Freeform 43"/>
          <p:cNvSpPr/>
          <p:nvPr/>
        </p:nvSpPr>
        <p:spPr>
          <a:xfrm flipH="1">
            <a:off x="12593516" y="70739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Box 44"/>
          <p:cNvSpPr txBox="1"/>
          <p:nvPr/>
        </p:nvSpPr>
        <p:spPr>
          <a:xfrm>
            <a:off x="14053167" y="7530331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Related Party Transactions &amp; Remittance Certifications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4935" y="7530331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Tax Audit &amp; Transfer Pricing Certification</a:t>
            </a:r>
          </a:p>
        </p:txBody>
      </p:sp>
      <p:sp>
        <p:nvSpPr>
          <p:cNvPr id="46" name="Freeform 46"/>
          <p:cNvSpPr/>
          <p:nvPr/>
        </p:nvSpPr>
        <p:spPr>
          <a:xfrm flipH="1">
            <a:off x="12022016" y="8508248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Box 47"/>
          <p:cNvSpPr txBox="1"/>
          <p:nvPr/>
        </p:nvSpPr>
        <p:spPr>
          <a:xfrm>
            <a:off x="13481667" y="8964590"/>
            <a:ext cx="389266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Physical Asset Verification, Data Purging &amp; Stock Destruction Audits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6435" y="8964590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GST Health Check &amp; Revenue Audits</a:t>
            </a:r>
          </a:p>
        </p:txBody>
      </p:sp>
      <p:sp>
        <p:nvSpPr>
          <p:cNvPr id="49" name="Freeform 49"/>
          <p:cNvSpPr/>
          <p:nvPr/>
        </p:nvSpPr>
        <p:spPr>
          <a:xfrm>
            <a:off x="10947396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0" name="Freeform 50"/>
          <p:cNvSpPr/>
          <p:nvPr/>
        </p:nvSpPr>
        <p:spPr>
          <a:xfrm flipH="1">
            <a:off x="5979733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1" name="Freeform 51"/>
          <p:cNvSpPr/>
          <p:nvPr/>
        </p:nvSpPr>
        <p:spPr>
          <a:xfrm>
            <a:off x="10372583" y="9132280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2" name="Freeform 52"/>
          <p:cNvSpPr/>
          <p:nvPr/>
        </p:nvSpPr>
        <p:spPr>
          <a:xfrm flipH="1">
            <a:off x="6549399" y="9132280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3" name="Freeform 53"/>
          <p:cNvSpPr/>
          <p:nvPr/>
        </p:nvSpPr>
        <p:spPr>
          <a:xfrm>
            <a:off x="3894701" y="422452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4" name="Freeform 54"/>
          <p:cNvSpPr/>
          <p:nvPr/>
        </p:nvSpPr>
        <p:spPr>
          <a:xfrm>
            <a:off x="3894701" y="5668304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5" name="Freeform 55"/>
          <p:cNvSpPr/>
          <p:nvPr/>
        </p:nvSpPr>
        <p:spPr>
          <a:xfrm>
            <a:off x="4466201" y="71120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6" name="Freeform 56"/>
          <p:cNvSpPr/>
          <p:nvPr/>
        </p:nvSpPr>
        <p:spPr>
          <a:xfrm>
            <a:off x="5037701" y="8555873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Box 57"/>
          <p:cNvSpPr txBox="1"/>
          <p:nvPr/>
        </p:nvSpPr>
        <p:spPr>
          <a:xfrm>
            <a:off x="12413880" y="180674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429565" y="180674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413880" y="897804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29565" y="9025672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985380" y="324100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858065" y="3250534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985380" y="75437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858065" y="75818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556880" y="467526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09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286565" y="469431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556880" y="610952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86565" y="6138103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</a:p>
        </p:txBody>
      </p:sp>
      <p:sp>
        <p:nvSpPr>
          <p:cNvPr id="71" name="Freeform 20">
            <a:extLst>
              <a:ext uri="{FF2B5EF4-FFF2-40B4-BE49-F238E27FC236}">
                <a16:creationId xmlns:a16="http://schemas.microsoft.com/office/drawing/2014/main" id="{CCBC77A0-AB04-4033-A160-BE032D7EFEE4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40225" y="2002786"/>
            <a:ext cx="8238605" cy="8284214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9410" b="-1875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6730374" y="3164015"/>
            <a:ext cx="4825389" cy="482538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3900000" flipH="1">
            <a:off x="7415425" y="8240973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1904706" y="0"/>
                </a:moveTo>
                <a:lnTo>
                  <a:pt x="0" y="0"/>
                </a:lnTo>
                <a:lnTo>
                  <a:pt x="0" y="114908"/>
                </a:lnTo>
                <a:lnTo>
                  <a:pt x="1904706" y="114908"/>
                </a:lnTo>
                <a:lnTo>
                  <a:pt x="19047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7446479" y="3997302"/>
            <a:ext cx="4109284" cy="4109284"/>
          </a:xfrm>
          <a:custGeom>
            <a:avLst/>
            <a:gdLst/>
            <a:ahLst/>
            <a:cxnLst/>
            <a:rect l="l" t="t" r="r" b="b"/>
            <a:pathLst>
              <a:path w="4109284" h="4109284">
                <a:moveTo>
                  <a:pt x="0" y="0"/>
                </a:moveTo>
                <a:lnTo>
                  <a:pt x="4109284" y="0"/>
                </a:lnTo>
                <a:lnTo>
                  <a:pt x="4109284" y="4109284"/>
                </a:lnTo>
                <a:lnTo>
                  <a:pt x="0" y="41092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-3900000">
            <a:off x="8927645" y="2723282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3900000">
            <a:off x="7447040" y="2732807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3900000">
            <a:off x="9022895" y="8240973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3240000">
            <a:off x="10333903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-3240000">
            <a:off x="7300662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3240000">
            <a:off x="730757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577" r="-9439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 rot="-3240000">
            <a:off x="1023026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68577" r="-9439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1695370" y="5080054"/>
            <a:ext cx="6619841" cy="5206946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8610" b="-8893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0184658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flipH="1">
            <a:off x="5314346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8"/>
                </a:lnTo>
                <a:lnTo>
                  <a:pt x="2785632" y="114908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0184658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 flipH="1">
            <a:off x="5314346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7"/>
                </a:lnTo>
                <a:lnTo>
                  <a:pt x="2785632" y="114907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7191575" y="3627343"/>
            <a:ext cx="3902987" cy="390298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0277333" y="1883477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 flipH="1">
            <a:off x="6548637" y="1883477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0854569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9" y="0"/>
                </a:lnTo>
                <a:lnTo>
                  <a:pt x="145485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 flipH="1">
            <a:off x="5983460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flipH="1">
            <a:off x="12022016" y="1336951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5037701" y="1336951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4466201" y="2780735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4"/>
                </a:lnTo>
                <a:lnTo>
                  <a:pt x="0" y="12480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 flipH="1">
            <a:off x="12593516" y="277121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4"/>
                </a:lnTo>
                <a:lnTo>
                  <a:pt x="1227782" y="1248064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7397587" y="4976895"/>
            <a:ext cx="3490964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392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Consulting</a:t>
            </a:r>
          </a:p>
          <a:p>
            <a:pPr algn="ctr">
              <a:lnSpc>
                <a:spcPts val="4713"/>
              </a:lnSpc>
            </a:pPr>
            <a:r>
              <a:rPr lang="en-US" sz="392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Services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81667" y="1793293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Secretarial Practice, Company Law Compliance &amp; Due Diligence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6435" y="1793293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Company Incorporation and regulatory setup services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4935" y="3227552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Internal Financial Controls, SOP design &amp; automation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053167" y="3164015"/>
            <a:ext cx="389266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Internal Control Evaluation, Business Impact &amp; Continuity Planning</a:t>
            </a:r>
          </a:p>
        </p:txBody>
      </p:sp>
      <p:sp>
        <p:nvSpPr>
          <p:cNvPr id="37" name="Freeform 37"/>
          <p:cNvSpPr/>
          <p:nvPr/>
        </p:nvSpPr>
        <p:spPr>
          <a:xfrm flipH="1">
            <a:off x="13165016" y="420547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Box 38"/>
          <p:cNvSpPr txBox="1"/>
          <p:nvPr/>
        </p:nvSpPr>
        <p:spPr>
          <a:xfrm>
            <a:off x="14624667" y="4661812"/>
            <a:ext cx="332116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Annual Return Filing, and statutory compliance management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6403" y="4661812"/>
            <a:ext cx="3459697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Risk Management Frameworks and fraud investigations</a:t>
            </a:r>
          </a:p>
        </p:txBody>
      </p:sp>
      <p:sp>
        <p:nvSpPr>
          <p:cNvPr id="40" name="Freeform 40"/>
          <p:cNvSpPr/>
          <p:nvPr/>
        </p:nvSpPr>
        <p:spPr>
          <a:xfrm flipH="1">
            <a:off x="13165016" y="563972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Box 41"/>
          <p:cNvSpPr txBox="1"/>
          <p:nvPr/>
        </p:nvSpPr>
        <p:spPr>
          <a:xfrm>
            <a:off x="14624667" y="6096071"/>
            <a:ext cx="366333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Merger, Acquisition, Demerger &amp; Reorganization Planning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6403" y="6096071"/>
            <a:ext cx="345969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Business Advisory, Valuation, </a:t>
            </a:r>
          </a:p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and field verification studies</a:t>
            </a:r>
          </a:p>
        </p:txBody>
      </p:sp>
      <p:sp>
        <p:nvSpPr>
          <p:cNvPr id="43" name="Freeform 43"/>
          <p:cNvSpPr/>
          <p:nvPr/>
        </p:nvSpPr>
        <p:spPr>
          <a:xfrm flipH="1">
            <a:off x="12593516" y="70739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Box 44"/>
          <p:cNvSpPr txBox="1"/>
          <p:nvPr/>
        </p:nvSpPr>
        <p:spPr>
          <a:xfrm>
            <a:off x="14053167" y="7456966"/>
            <a:ext cx="389266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Financial Forecasting, Working Capital &amp; Business Valuation Support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4935" y="7530331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Efficiency Improvement and process optimization consulting</a:t>
            </a:r>
          </a:p>
        </p:txBody>
      </p:sp>
      <p:sp>
        <p:nvSpPr>
          <p:cNvPr id="46" name="Freeform 46"/>
          <p:cNvSpPr/>
          <p:nvPr/>
        </p:nvSpPr>
        <p:spPr>
          <a:xfrm flipH="1">
            <a:off x="12022016" y="8508248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Box 47"/>
          <p:cNvSpPr txBox="1"/>
          <p:nvPr/>
        </p:nvSpPr>
        <p:spPr>
          <a:xfrm>
            <a:off x="13481667" y="8964590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FEMA Advisory, Project Feasibility Reports &amp; Liquidation Assistance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6435" y="8964590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Family Arbitration, Private Trust &amp; Succession Planning</a:t>
            </a:r>
          </a:p>
        </p:txBody>
      </p:sp>
      <p:sp>
        <p:nvSpPr>
          <p:cNvPr id="49" name="Freeform 49"/>
          <p:cNvSpPr/>
          <p:nvPr/>
        </p:nvSpPr>
        <p:spPr>
          <a:xfrm>
            <a:off x="10947396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0" name="Freeform 50"/>
          <p:cNvSpPr/>
          <p:nvPr/>
        </p:nvSpPr>
        <p:spPr>
          <a:xfrm flipH="1">
            <a:off x="5979733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1" name="Freeform 51"/>
          <p:cNvSpPr/>
          <p:nvPr/>
        </p:nvSpPr>
        <p:spPr>
          <a:xfrm>
            <a:off x="10372583" y="9132280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2" name="Freeform 52"/>
          <p:cNvSpPr/>
          <p:nvPr/>
        </p:nvSpPr>
        <p:spPr>
          <a:xfrm flipH="1">
            <a:off x="6549399" y="9132280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3" name="Freeform 53"/>
          <p:cNvSpPr/>
          <p:nvPr/>
        </p:nvSpPr>
        <p:spPr>
          <a:xfrm>
            <a:off x="3894701" y="422452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4" name="Freeform 54"/>
          <p:cNvSpPr/>
          <p:nvPr/>
        </p:nvSpPr>
        <p:spPr>
          <a:xfrm>
            <a:off x="3894701" y="5668304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5" name="Freeform 55"/>
          <p:cNvSpPr/>
          <p:nvPr/>
        </p:nvSpPr>
        <p:spPr>
          <a:xfrm>
            <a:off x="4466201" y="71120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6" name="Freeform 56"/>
          <p:cNvSpPr/>
          <p:nvPr/>
        </p:nvSpPr>
        <p:spPr>
          <a:xfrm>
            <a:off x="5037701" y="8555873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Box 57"/>
          <p:cNvSpPr txBox="1"/>
          <p:nvPr/>
        </p:nvSpPr>
        <p:spPr>
          <a:xfrm>
            <a:off x="12413880" y="180674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429565" y="180674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413880" y="897804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29565" y="9025672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985380" y="324100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858065" y="3250534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985380" y="75437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858065" y="75818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556880" y="467526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09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286565" y="469431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556880" y="610952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86565" y="6138103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  <p:sp>
        <p:nvSpPr>
          <p:cNvPr id="71" name="Freeform 20">
            <a:extLst>
              <a:ext uri="{FF2B5EF4-FFF2-40B4-BE49-F238E27FC236}">
                <a16:creationId xmlns:a16="http://schemas.microsoft.com/office/drawing/2014/main" id="{4F53F14A-C283-49AA-A097-9E07A9116B41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40225" y="2002786"/>
            <a:ext cx="8238605" cy="8303591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9410" b="-1847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695370" y="5080054"/>
            <a:ext cx="6619841" cy="5185010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8610" b="-8973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6730374" y="3164015"/>
            <a:ext cx="4825389" cy="48253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3900000" flipH="1">
            <a:off x="7415425" y="8240973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1904706" y="0"/>
                </a:moveTo>
                <a:lnTo>
                  <a:pt x="0" y="0"/>
                </a:lnTo>
                <a:lnTo>
                  <a:pt x="0" y="114908"/>
                </a:lnTo>
                <a:lnTo>
                  <a:pt x="1904706" y="114908"/>
                </a:lnTo>
                <a:lnTo>
                  <a:pt x="19047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7446479" y="3997302"/>
            <a:ext cx="4109284" cy="4109284"/>
          </a:xfrm>
          <a:custGeom>
            <a:avLst/>
            <a:gdLst/>
            <a:ahLst/>
            <a:cxnLst/>
            <a:rect l="l" t="t" r="r" b="b"/>
            <a:pathLst>
              <a:path w="4109284" h="4109284">
                <a:moveTo>
                  <a:pt x="0" y="0"/>
                </a:moveTo>
                <a:lnTo>
                  <a:pt x="4109284" y="0"/>
                </a:lnTo>
                <a:lnTo>
                  <a:pt x="4109284" y="4109284"/>
                </a:lnTo>
                <a:lnTo>
                  <a:pt x="0" y="41092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-3900000">
            <a:off x="8927645" y="2723282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3900000">
            <a:off x="7447040" y="2732807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3900000">
            <a:off x="9022895" y="8240973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3240000">
            <a:off x="10333903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-3240000">
            <a:off x="7300662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 rot="3240000">
            <a:off x="730757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577" r="-9439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 rot="-3240000">
            <a:off x="1023026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68577" r="-9439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0184658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flipH="1">
            <a:off x="5314346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8"/>
                </a:lnTo>
                <a:lnTo>
                  <a:pt x="2785632" y="114908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0184658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 flipH="1">
            <a:off x="5314346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7"/>
                </a:lnTo>
                <a:lnTo>
                  <a:pt x="2785632" y="114907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7191575" y="3627343"/>
            <a:ext cx="3902987" cy="390298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0277333" y="1883477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 flipH="1">
            <a:off x="6548637" y="1883477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0854569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9" y="0"/>
                </a:lnTo>
                <a:lnTo>
                  <a:pt x="145485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 flipH="1">
            <a:off x="5983460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flipH="1">
            <a:off x="12022016" y="1336951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5037701" y="1336951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4466201" y="2780735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4"/>
                </a:lnTo>
                <a:lnTo>
                  <a:pt x="0" y="12480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 flipH="1">
            <a:off x="12593516" y="277121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4"/>
                </a:lnTo>
                <a:lnTo>
                  <a:pt x="1227782" y="1248064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7397587" y="4976895"/>
            <a:ext cx="3490964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392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Taxation Solutions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81667" y="1793293"/>
            <a:ext cx="389266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Survey, Search &amp; Seizure Support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97245" y="1793293"/>
            <a:ext cx="321185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Representation before tax authorities for assessments, refunds &amp; rectifications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3227552"/>
            <a:ext cx="320890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Tax structuring, budgeting, forecasting &amp; M&amp;A advisory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053167" y="3227552"/>
            <a:ext cx="4043189" cy="29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Scrutiny &amp; Faceless Representation</a:t>
            </a:r>
          </a:p>
        </p:txBody>
      </p:sp>
      <p:sp>
        <p:nvSpPr>
          <p:cNvPr id="37" name="Freeform 37"/>
          <p:cNvSpPr/>
          <p:nvPr/>
        </p:nvSpPr>
        <p:spPr>
          <a:xfrm flipH="1">
            <a:off x="13165016" y="420547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Box 38"/>
          <p:cNvSpPr txBox="1"/>
          <p:nvPr/>
        </p:nvSpPr>
        <p:spPr>
          <a:xfrm>
            <a:off x="14624667" y="4661812"/>
            <a:ext cx="2749666" cy="59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Assessments, Appeals &amp; Litigation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6403" y="4661812"/>
            <a:ext cx="345969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Corporate &amp; Non-Corporate Return Filing (Direct Tax)</a:t>
            </a:r>
          </a:p>
        </p:txBody>
      </p:sp>
      <p:sp>
        <p:nvSpPr>
          <p:cNvPr id="40" name="Freeform 40"/>
          <p:cNvSpPr/>
          <p:nvPr/>
        </p:nvSpPr>
        <p:spPr>
          <a:xfrm flipH="1">
            <a:off x="13165016" y="563972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Box 41"/>
          <p:cNvSpPr txBox="1"/>
          <p:nvPr/>
        </p:nvSpPr>
        <p:spPr>
          <a:xfrm>
            <a:off x="14624667" y="6096071"/>
            <a:ext cx="332116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Transfer Pricing (Domestic &amp; International), Reviews &amp; Certifications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6403" y="6096071"/>
            <a:ext cx="345969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Tax Planning, TDS &amp; </a:t>
            </a:r>
          </a:p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Advance Tax Compliance</a:t>
            </a:r>
          </a:p>
        </p:txBody>
      </p:sp>
      <p:sp>
        <p:nvSpPr>
          <p:cNvPr id="43" name="Freeform 43"/>
          <p:cNvSpPr/>
          <p:nvPr/>
        </p:nvSpPr>
        <p:spPr>
          <a:xfrm flipH="1">
            <a:off x="12593516" y="70739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Box 44"/>
          <p:cNvSpPr txBox="1"/>
          <p:nvPr/>
        </p:nvSpPr>
        <p:spPr>
          <a:xfrm>
            <a:off x="14053167" y="7530331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International Tax &amp; Inbound/Outbound Structuring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4935" y="7530331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GST Return Filing, Retainership &amp; Indirect Tax Advisory</a:t>
            </a:r>
          </a:p>
        </p:txBody>
      </p:sp>
      <p:sp>
        <p:nvSpPr>
          <p:cNvPr id="46" name="Freeform 46"/>
          <p:cNvSpPr/>
          <p:nvPr/>
        </p:nvSpPr>
        <p:spPr>
          <a:xfrm flipH="1">
            <a:off x="12022016" y="8508248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Box 47"/>
          <p:cNvSpPr txBox="1"/>
          <p:nvPr/>
        </p:nvSpPr>
        <p:spPr>
          <a:xfrm>
            <a:off x="13481667" y="8964590"/>
            <a:ext cx="363235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Tax Audits, Digitalization, Registration (PAN, GSTIN, TAN, Charitable Trusts)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6435" y="8964590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Tax Advisory, GST Health Check &amp; Dispute Resolution</a:t>
            </a:r>
          </a:p>
        </p:txBody>
      </p:sp>
      <p:sp>
        <p:nvSpPr>
          <p:cNvPr id="49" name="Freeform 49"/>
          <p:cNvSpPr/>
          <p:nvPr/>
        </p:nvSpPr>
        <p:spPr>
          <a:xfrm>
            <a:off x="10947396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0" name="Freeform 50"/>
          <p:cNvSpPr/>
          <p:nvPr/>
        </p:nvSpPr>
        <p:spPr>
          <a:xfrm flipH="1">
            <a:off x="5979733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1" name="Freeform 51"/>
          <p:cNvSpPr/>
          <p:nvPr/>
        </p:nvSpPr>
        <p:spPr>
          <a:xfrm>
            <a:off x="10372583" y="9132280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2" name="Freeform 52"/>
          <p:cNvSpPr/>
          <p:nvPr/>
        </p:nvSpPr>
        <p:spPr>
          <a:xfrm flipH="1">
            <a:off x="6549399" y="9132280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3" name="Freeform 53"/>
          <p:cNvSpPr/>
          <p:nvPr/>
        </p:nvSpPr>
        <p:spPr>
          <a:xfrm>
            <a:off x="3894701" y="422452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4" name="Freeform 54"/>
          <p:cNvSpPr/>
          <p:nvPr/>
        </p:nvSpPr>
        <p:spPr>
          <a:xfrm>
            <a:off x="3894701" y="5668304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5" name="Freeform 55"/>
          <p:cNvSpPr/>
          <p:nvPr/>
        </p:nvSpPr>
        <p:spPr>
          <a:xfrm>
            <a:off x="4466201" y="71120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6" name="Freeform 56"/>
          <p:cNvSpPr/>
          <p:nvPr/>
        </p:nvSpPr>
        <p:spPr>
          <a:xfrm>
            <a:off x="5037701" y="8555873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Box 57"/>
          <p:cNvSpPr txBox="1"/>
          <p:nvPr/>
        </p:nvSpPr>
        <p:spPr>
          <a:xfrm>
            <a:off x="12413880" y="180674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429565" y="180674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413880" y="897804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29565" y="9025672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985380" y="324100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858065" y="3250534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985380" y="75437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858065" y="75818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556880" y="467526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09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286565" y="469431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556880" y="610952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86565" y="6138103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</a:p>
        </p:txBody>
      </p:sp>
      <p:sp>
        <p:nvSpPr>
          <p:cNvPr id="71" name="Freeform 20">
            <a:extLst>
              <a:ext uri="{FF2B5EF4-FFF2-40B4-BE49-F238E27FC236}">
                <a16:creationId xmlns:a16="http://schemas.microsoft.com/office/drawing/2014/main" id="{0EFC914B-EDF2-45BF-BD55-C38BED45A8A1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40225" y="2002786"/>
            <a:ext cx="8238605" cy="8303591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9410" b="-1847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695370" y="5080054"/>
            <a:ext cx="6619841" cy="5226323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8610" b="-8823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6730374" y="3164015"/>
            <a:ext cx="4825389" cy="48253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3900000" flipH="1">
            <a:off x="7415425" y="8240973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1904706" y="0"/>
                </a:moveTo>
                <a:lnTo>
                  <a:pt x="0" y="0"/>
                </a:lnTo>
                <a:lnTo>
                  <a:pt x="0" y="114908"/>
                </a:lnTo>
                <a:lnTo>
                  <a:pt x="1904706" y="114908"/>
                </a:lnTo>
                <a:lnTo>
                  <a:pt x="19047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7446479" y="3997302"/>
            <a:ext cx="4109284" cy="4109284"/>
          </a:xfrm>
          <a:custGeom>
            <a:avLst/>
            <a:gdLst/>
            <a:ahLst/>
            <a:cxnLst/>
            <a:rect l="l" t="t" r="r" b="b"/>
            <a:pathLst>
              <a:path w="4109284" h="4109284">
                <a:moveTo>
                  <a:pt x="0" y="0"/>
                </a:moveTo>
                <a:lnTo>
                  <a:pt x="4109284" y="0"/>
                </a:lnTo>
                <a:lnTo>
                  <a:pt x="4109284" y="4109284"/>
                </a:lnTo>
                <a:lnTo>
                  <a:pt x="0" y="41092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-3900000">
            <a:off x="8927645" y="2723282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3900000">
            <a:off x="7447040" y="2732807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3900000">
            <a:off x="9022895" y="8240973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3240000">
            <a:off x="10333903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-3240000">
            <a:off x="7300662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 rot="3240000">
            <a:off x="730757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577" r="-9439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 rot="-3240000">
            <a:off x="1023026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68577" r="-9439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0184658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flipH="1">
            <a:off x="5314346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8"/>
                </a:lnTo>
                <a:lnTo>
                  <a:pt x="2785632" y="114908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0184658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 flipH="1">
            <a:off x="5314346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7"/>
                </a:lnTo>
                <a:lnTo>
                  <a:pt x="2785632" y="114907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7191575" y="3627343"/>
            <a:ext cx="3902987" cy="390298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0277333" y="1883477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 flipH="1">
            <a:off x="6548637" y="1883477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0854569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9" y="0"/>
                </a:lnTo>
                <a:lnTo>
                  <a:pt x="145485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 flipH="1">
            <a:off x="5983460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flipH="1">
            <a:off x="12022016" y="1336951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5037701" y="1336951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4466201" y="2780735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4"/>
                </a:lnTo>
                <a:lnTo>
                  <a:pt x="0" y="12480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 flipH="1">
            <a:off x="12593516" y="277121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4"/>
                </a:lnTo>
                <a:lnTo>
                  <a:pt x="1227782" y="1248064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7397587" y="4976895"/>
            <a:ext cx="3490964" cy="119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392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Outsourcing Solutions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81667" y="1793293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Inventory Verification &amp; Payroll Processing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5077" y="1793293"/>
            <a:ext cx="3444024" cy="5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9"/>
              </a:lnSpc>
              <a:spcBef>
                <a:spcPct val="0"/>
              </a:spcBef>
            </a:pPr>
            <a:r>
              <a:rPr lang="en-US" sz="1999" u="none" strike="noStrike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Accounting system selection, design &amp;implementation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4935" y="3227552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Budgeting &amp; Monitoring Financial Reporting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053167" y="3227552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Virtual CXO Services (CEO, CFO, CTO, CPO)</a:t>
            </a:r>
          </a:p>
        </p:txBody>
      </p:sp>
      <p:sp>
        <p:nvSpPr>
          <p:cNvPr id="37" name="Freeform 37"/>
          <p:cNvSpPr/>
          <p:nvPr/>
        </p:nvSpPr>
        <p:spPr>
          <a:xfrm flipH="1">
            <a:off x="13165016" y="420547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Box 38"/>
          <p:cNvSpPr txBox="1"/>
          <p:nvPr/>
        </p:nvSpPr>
        <p:spPr>
          <a:xfrm>
            <a:off x="14624667" y="4661812"/>
            <a:ext cx="296233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Accounting, Reporting &amp; AP/AR Reconciliation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6975" y="4661812"/>
            <a:ext cx="297912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MIS, global &amp; domestic bookkeeping, and full compliance management.</a:t>
            </a:r>
          </a:p>
        </p:txBody>
      </p:sp>
      <p:sp>
        <p:nvSpPr>
          <p:cNvPr id="40" name="Freeform 40"/>
          <p:cNvSpPr/>
          <p:nvPr/>
        </p:nvSpPr>
        <p:spPr>
          <a:xfrm flipH="1">
            <a:off x="13165016" y="563972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Box 41"/>
          <p:cNvSpPr txBox="1"/>
          <p:nvPr/>
        </p:nvSpPr>
        <p:spPr>
          <a:xfrm>
            <a:off x="14624667" y="6096071"/>
            <a:ext cx="263463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Cloud Office Setup, Automation &amp; Support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65077" y="6096071"/>
            <a:ext cx="230102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Corporate Training</a:t>
            </a:r>
          </a:p>
        </p:txBody>
      </p:sp>
      <p:sp>
        <p:nvSpPr>
          <p:cNvPr id="43" name="Freeform 43"/>
          <p:cNvSpPr/>
          <p:nvPr/>
        </p:nvSpPr>
        <p:spPr>
          <a:xfrm flipH="1">
            <a:off x="12593516" y="70739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Box 44"/>
          <p:cNvSpPr txBox="1"/>
          <p:nvPr/>
        </p:nvSpPr>
        <p:spPr>
          <a:xfrm>
            <a:off x="14053167" y="7530331"/>
            <a:ext cx="332116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Remote Secretarial Services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4935" y="7530331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Tax Return Preparation (Federal, State, GST/VAT, Payroll, FBAR)</a:t>
            </a:r>
          </a:p>
        </p:txBody>
      </p:sp>
      <p:sp>
        <p:nvSpPr>
          <p:cNvPr id="46" name="Freeform 46"/>
          <p:cNvSpPr/>
          <p:nvPr/>
        </p:nvSpPr>
        <p:spPr>
          <a:xfrm flipH="1">
            <a:off x="12022016" y="8508248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Box 47"/>
          <p:cNvSpPr txBox="1"/>
          <p:nvPr/>
        </p:nvSpPr>
        <p:spPr>
          <a:xfrm>
            <a:off x="13481667" y="8964590"/>
            <a:ext cx="329195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Risk Assessment &amp; Register Maintenance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6435" y="8964590"/>
            <a:ext cx="389266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Fixed Asset Management (Verification to Reconciliation)</a:t>
            </a:r>
          </a:p>
        </p:txBody>
      </p:sp>
      <p:sp>
        <p:nvSpPr>
          <p:cNvPr id="49" name="Freeform 49"/>
          <p:cNvSpPr/>
          <p:nvPr/>
        </p:nvSpPr>
        <p:spPr>
          <a:xfrm>
            <a:off x="10947396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0" name="Freeform 50"/>
          <p:cNvSpPr/>
          <p:nvPr/>
        </p:nvSpPr>
        <p:spPr>
          <a:xfrm flipH="1">
            <a:off x="5979733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1" name="Freeform 51"/>
          <p:cNvSpPr/>
          <p:nvPr/>
        </p:nvSpPr>
        <p:spPr>
          <a:xfrm>
            <a:off x="10372583" y="9132280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2" name="Freeform 52"/>
          <p:cNvSpPr/>
          <p:nvPr/>
        </p:nvSpPr>
        <p:spPr>
          <a:xfrm flipH="1">
            <a:off x="6549399" y="9132280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3" name="Freeform 53"/>
          <p:cNvSpPr/>
          <p:nvPr/>
        </p:nvSpPr>
        <p:spPr>
          <a:xfrm>
            <a:off x="3894701" y="422452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4" name="Freeform 54"/>
          <p:cNvSpPr/>
          <p:nvPr/>
        </p:nvSpPr>
        <p:spPr>
          <a:xfrm>
            <a:off x="3894701" y="5668304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5" name="Freeform 55"/>
          <p:cNvSpPr/>
          <p:nvPr/>
        </p:nvSpPr>
        <p:spPr>
          <a:xfrm>
            <a:off x="4466201" y="71120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6" name="Freeform 56"/>
          <p:cNvSpPr/>
          <p:nvPr/>
        </p:nvSpPr>
        <p:spPr>
          <a:xfrm>
            <a:off x="5037701" y="8555873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Box 57"/>
          <p:cNvSpPr txBox="1"/>
          <p:nvPr/>
        </p:nvSpPr>
        <p:spPr>
          <a:xfrm>
            <a:off x="12413880" y="180674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429565" y="180674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413880" y="897804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29565" y="9025672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985380" y="324100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858065" y="3250534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985380" y="75437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858065" y="75818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556880" y="467526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09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286565" y="469431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556880" y="610952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86565" y="6138103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12</a:t>
            </a:r>
          </a:p>
        </p:txBody>
      </p:sp>
      <p:sp>
        <p:nvSpPr>
          <p:cNvPr id="71" name="Freeform 20">
            <a:extLst>
              <a:ext uri="{FF2B5EF4-FFF2-40B4-BE49-F238E27FC236}">
                <a16:creationId xmlns:a16="http://schemas.microsoft.com/office/drawing/2014/main" id="{EBF6AEE5-C138-4F64-ACAA-8D3882A7D5D5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36735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863" y="2002786"/>
            <a:ext cx="8200244" cy="8284214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9966" r="-3" b="-1875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695370" y="5080054"/>
            <a:ext cx="6619841" cy="5228882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8610" b="-8814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6730374" y="3164015"/>
            <a:ext cx="4825389" cy="48253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446479" y="3997302"/>
            <a:ext cx="4109284" cy="4109284"/>
          </a:xfrm>
          <a:custGeom>
            <a:avLst/>
            <a:gdLst/>
            <a:ahLst/>
            <a:cxnLst/>
            <a:rect l="l" t="t" r="r" b="b"/>
            <a:pathLst>
              <a:path w="4109284" h="4109284">
                <a:moveTo>
                  <a:pt x="0" y="0"/>
                </a:moveTo>
                <a:lnTo>
                  <a:pt x="4109284" y="0"/>
                </a:lnTo>
                <a:lnTo>
                  <a:pt x="4109284" y="4109284"/>
                </a:lnTo>
                <a:lnTo>
                  <a:pt x="0" y="4109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3240000">
            <a:off x="10333903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-3240000">
            <a:off x="7300662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3240000">
            <a:off x="730757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68577" r="-9439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-3240000">
            <a:off x="1023026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68577" r="-9439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0184658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flipH="1">
            <a:off x="5314346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8"/>
                </a:lnTo>
                <a:lnTo>
                  <a:pt x="2785632" y="114908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0184658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 flipH="1">
            <a:off x="5314346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7"/>
                </a:lnTo>
                <a:lnTo>
                  <a:pt x="2785632" y="114907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17" name="Group 17"/>
          <p:cNvGrpSpPr/>
          <p:nvPr/>
        </p:nvGrpSpPr>
        <p:grpSpPr>
          <a:xfrm>
            <a:off x="7191575" y="3627343"/>
            <a:ext cx="3902987" cy="390298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854569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9" y="0"/>
                </a:lnTo>
                <a:lnTo>
                  <a:pt x="145485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 flipH="1">
            <a:off x="5983460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4466201" y="2780735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4"/>
                </a:lnTo>
                <a:lnTo>
                  <a:pt x="0" y="12480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3" name="Freeform 23"/>
          <p:cNvSpPr/>
          <p:nvPr/>
        </p:nvSpPr>
        <p:spPr>
          <a:xfrm flipH="1">
            <a:off x="12593516" y="277121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4"/>
                </a:lnTo>
                <a:lnTo>
                  <a:pt x="1227782" y="1248064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7397587" y="4652287"/>
            <a:ext cx="3490964" cy="178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392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Corporate Finance Solutions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4935" y="3227552"/>
            <a:ext cx="3892666" cy="29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Project Finance, ECB, Debt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53167" y="3227552"/>
            <a:ext cx="3892666" cy="29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Valuation, Due Diligence</a:t>
            </a:r>
          </a:p>
        </p:txBody>
      </p:sp>
      <p:sp>
        <p:nvSpPr>
          <p:cNvPr id="27" name="Freeform 27"/>
          <p:cNvSpPr/>
          <p:nvPr/>
        </p:nvSpPr>
        <p:spPr>
          <a:xfrm flipH="1">
            <a:off x="13165016" y="420547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14624667" y="4661812"/>
            <a:ext cx="2962335" cy="29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Treasury, Controls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6975" y="4661812"/>
            <a:ext cx="2979126" cy="597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Capital Markets, IPO &amp; PE Advisory</a:t>
            </a:r>
          </a:p>
        </p:txBody>
      </p:sp>
      <p:sp>
        <p:nvSpPr>
          <p:cNvPr id="30" name="Freeform 30"/>
          <p:cNvSpPr/>
          <p:nvPr/>
        </p:nvSpPr>
        <p:spPr>
          <a:xfrm flipH="1">
            <a:off x="13165016" y="563972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Box 31"/>
          <p:cNvSpPr txBox="1"/>
          <p:nvPr/>
        </p:nvSpPr>
        <p:spPr>
          <a:xfrm>
            <a:off x="14624667" y="6096071"/>
            <a:ext cx="2634633" cy="29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CFO Services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5077" y="6096071"/>
            <a:ext cx="2301024" cy="59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Business Plans &amp; Projections</a:t>
            </a:r>
          </a:p>
        </p:txBody>
      </p:sp>
      <p:sp>
        <p:nvSpPr>
          <p:cNvPr id="33" name="Freeform 33"/>
          <p:cNvSpPr/>
          <p:nvPr/>
        </p:nvSpPr>
        <p:spPr>
          <a:xfrm flipH="1">
            <a:off x="12593516" y="70739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Box 34"/>
          <p:cNvSpPr txBox="1"/>
          <p:nvPr/>
        </p:nvSpPr>
        <p:spPr>
          <a:xfrm>
            <a:off x="14053167" y="7530331"/>
            <a:ext cx="3321166" cy="29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Govt. &amp; Infra. Advisory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4935" y="7530331"/>
            <a:ext cx="3892666" cy="29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Mergers &amp; Acquisition</a:t>
            </a:r>
          </a:p>
        </p:txBody>
      </p:sp>
      <p:sp>
        <p:nvSpPr>
          <p:cNvPr id="36" name="Freeform 36"/>
          <p:cNvSpPr/>
          <p:nvPr/>
        </p:nvSpPr>
        <p:spPr>
          <a:xfrm>
            <a:off x="10947396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7" name="Freeform 37"/>
          <p:cNvSpPr/>
          <p:nvPr/>
        </p:nvSpPr>
        <p:spPr>
          <a:xfrm flipH="1">
            <a:off x="5979733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8" name="Freeform 38"/>
          <p:cNvSpPr/>
          <p:nvPr/>
        </p:nvSpPr>
        <p:spPr>
          <a:xfrm>
            <a:off x="3894701" y="422452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9" name="Freeform 39"/>
          <p:cNvSpPr/>
          <p:nvPr/>
        </p:nvSpPr>
        <p:spPr>
          <a:xfrm>
            <a:off x="3894701" y="5668304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0" name="Freeform 40"/>
          <p:cNvSpPr/>
          <p:nvPr/>
        </p:nvSpPr>
        <p:spPr>
          <a:xfrm>
            <a:off x="4466201" y="71120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Box 41"/>
          <p:cNvSpPr txBox="1"/>
          <p:nvPr/>
        </p:nvSpPr>
        <p:spPr>
          <a:xfrm>
            <a:off x="12985380" y="3241009"/>
            <a:ext cx="444054" cy="31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58065" y="3250534"/>
            <a:ext cx="444054" cy="31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985380" y="75437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858065" y="7581887"/>
            <a:ext cx="444054" cy="31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556880" y="4675268"/>
            <a:ext cx="444054" cy="31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86565" y="4694318"/>
            <a:ext cx="444054" cy="31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556880" y="6109528"/>
            <a:ext cx="444054" cy="31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286565" y="6138103"/>
            <a:ext cx="444054" cy="317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587002" y="9968163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13</a:t>
            </a:r>
          </a:p>
        </p:txBody>
      </p:sp>
      <p:sp>
        <p:nvSpPr>
          <p:cNvPr id="51" name="Freeform 20">
            <a:extLst>
              <a:ext uri="{FF2B5EF4-FFF2-40B4-BE49-F238E27FC236}">
                <a16:creationId xmlns:a16="http://schemas.microsoft.com/office/drawing/2014/main" id="{8AEA120C-87B3-464E-85E3-9D83E2AFF9D6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40225" y="2002786"/>
            <a:ext cx="8238605" cy="8303591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9410" b="-1847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695370" y="5080054"/>
            <a:ext cx="6619841" cy="5226323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8610" b="-8823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6730374" y="3164015"/>
            <a:ext cx="4825389" cy="48253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3900000" flipH="1">
            <a:off x="7415425" y="8240973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1904706" y="0"/>
                </a:moveTo>
                <a:lnTo>
                  <a:pt x="0" y="0"/>
                </a:lnTo>
                <a:lnTo>
                  <a:pt x="0" y="114908"/>
                </a:lnTo>
                <a:lnTo>
                  <a:pt x="1904706" y="114908"/>
                </a:lnTo>
                <a:lnTo>
                  <a:pt x="19047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7446479" y="3997302"/>
            <a:ext cx="4109284" cy="4109284"/>
          </a:xfrm>
          <a:custGeom>
            <a:avLst/>
            <a:gdLst/>
            <a:ahLst/>
            <a:cxnLst/>
            <a:rect l="l" t="t" r="r" b="b"/>
            <a:pathLst>
              <a:path w="4109284" h="4109284">
                <a:moveTo>
                  <a:pt x="0" y="0"/>
                </a:moveTo>
                <a:lnTo>
                  <a:pt x="4109284" y="0"/>
                </a:lnTo>
                <a:lnTo>
                  <a:pt x="4109284" y="4109284"/>
                </a:lnTo>
                <a:lnTo>
                  <a:pt x="0" y="41092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-3900000">
            <a:off x="8927645" y="2723282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 rot="3900000">
            <a:off x="7447040" y="2732807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rot="3900000">
            <a:off x="9022895" y="8240973"/>
            <a:ext cx="1904706" cy="114907"/>
          </a:xfrm>
          <a:custGeom>
            <a:avLst/>
            <a:gdLst/>
            <a:ahLst/>
            <a:cxnLst/>
            <a:rect l="l" t="t" r="r" b="b"/>
            <a:pathLst>
              <a:path w="1904706" h="114907">
                <a:moveTo>
                  <a:pt x="0" y="0"/>
                </a:moveTo>
                <a:lnTo>
                  <a:pt x="1904706" y="0"/>
                </a:lnTo>
                <a:lnTo>
                  <a:pt x="1904706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16" r="-380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 rot="3240000">
            <a:off x="10333903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 rot="-3240000">
            <a:off x="7300662" y="7362023"/>
            <a:ext cx="753829" cy="114907"/>
          </a:xfrm>
          <a:custGeom>
            <a:avLst/>
            <a:gdLst/>
            <a:ahLst/>
            <a:cxnLst/>
            <a:rect l="l" t="t" r="r" b="b"/>
            <a:pathLst>
              <a:path w="753829" h="114907">
                <a:moveTo>
                  <a:pt x="0" y="0"/>
                </a:moveTo>
                <a:lnTo>
                  <a:pt x="753829" y="0"/>
                </a:lnTo>
                <a:lnTo>
                  <a:pt x="75382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73430" r="-9610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 rot="3240000">
            <a:off x="730757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68577" r="-9439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 rot="-3240000">
            <a:off x="10230262" y="3632400"/>
            <a:ext cx="767451" cy="114907"/>
          </a:xfrm>
          <a:custGeom>
            <a:avLst/>
            <a:gdLst/>
            <a:ahLst/>
            <a:cxnLst/>
            <a:rect l="l" t="t" r="r" b="b"/>
            <a:pathLst>
              <a:path w="767451" h="114907">
                <a:moveTo>
                  <a:pt x="0" y="0"/>
                </a:moveTo>
                <a:lnTo>
                  <a:pt x="767451" y="0"/>
                </a:lnTo>
                <a:lnTo>
                  <a:pt x="76745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68577" r="-9439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0184658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8"/>
                </a:lnTo>
                <a:lnTo>
                  <a:pt x="0" y="114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flipH="1">
            <a:off x="5314346" y="6225656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8"/>
                </a:lnTo>
                <a:lnTo>
                  <a:pt x="2785632" y="114908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0184658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0" y="0"/>
                </a:moveTo>
                <a:lnTo>
                  <a:pt x="2785631" y="0"/>
                </a:lnTo>
                <a:lnTo>
                  <a:pt x="2785631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 flipH="1">
            <a:off x="5314346" y="4828899"/>
            <a:ext cx="2785632" cy="114907"/>
          </a:xfrm>
          <a:custGeom>
            <a:avLst/>
            <a:gdLst/>
            <a:ahLst/>
            <a:cxnLst/>
            <a:rect l="l" t="t" r="r" b="b"/>
            <a:pathLst>
              <a:path w="2785632" h="114907">
                <a:moveTo>
                  <a:pt x="2785632" y="0"/>
                </a:moveTo>
                <a:lnTo>
                  <a:pt x="0" y="0"/>
                </a:lnTo>
                <a:lnTo>
                  <a:pt x="0" y="114907"/>
                </a:lnTo>
                <a:lnTo>
                  <a:pt x="2785632" y="114907"/>
                </a:lnTo>
                <a:lnTo>
                  <a:pt x="278563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7191575" y="3627343"/>
            <a:ext cx="3902987" cy="390298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0277333" y="1883477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 flipH="1">
            <a:off x="6548637" y="1883477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>
            <a:off x="10854569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9" y="0"/>
                </a:lnTo>
                <a:lnTo>
                  <a:pt x="1454859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 flipH="1">
            <a:off x="5983460" y="3317736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 flipH="1">
            <a:off x="12022016" y="1336951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5037701" y="1336951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4466201" y="2780735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4"/>
                </a:lnTo>
                <a:lnTo>
                  <a:pt x="0" y="12480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 flipH="1">
            <a:off x="12593516" y="277121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4"/>
                </a:lnTo>
                <a:lnTo>
                  <a:pt x="1227782" y="1248064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Box 33"/>
          <p:cNvSpPr txBox="1"/>
          <p:nvPr/>
        </p:nvSpPr>
        <p:spPr>
          <a:xfrm>
            <a:off x="13481667" y="1793293"/>
            <a:ext cx="3892666" cy="597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Board Meeting &amp; AGM Compliance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5077" y="1793293"/>
            <a:ext cx="3444024" cy="597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9"/>
              </a:lnSpc>
              <a:spcBef>
                <a:spcPct val="0"/>
              </a:spcBef>
            </a:pPr>
            <a:r>
              <a:rPr lang="en-US" sz="1999" u="none" strike="noStrike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Compliance &amp; Governance Solutions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4935" y="3227552"/>
            <a:ext cx="3892666" cy="597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Compliance Awareness Sessions &amp; Corporate Learning Programs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053167" y="3227552"/>
            <a:ext cx="3892666" cy="905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Filing Annual Returns &amp; Statutory Documents with Regulatory Authorities</a:t>
            </a:r>
          </a:p>
        </p:txBody>
      </p:sp>
      <p:sp>
        <p:nvSpPr>
          <p:cNvPr id="37" name="Freeform 37"/>
          <p:cNvSpPr/>
          <p:nvPr/>
        </p:nvSpPr>
        <p:spPr>
          <a:xfrm flipH="1">
            <a:off x="13165016" y="420547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Box 38"/>
          <p:cNvSpPr txBox="1"/>
          <p:nvPr/>
        </p:nvSpPr>
        <p:spPr>
          <a:xfrm>
            <a:off x="14624667" y="4661812"/>
            <a:ext cx="3471690" cy="1213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Maintenance of Statutory Registers, Board Resolutions, Shareholding Patterns &amp; KMP Records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4935" y="4661812"/>
            <a:ext cx="3321166" cy="905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Enterprise Risk Identification &amp; Assessment Across Business Functions</a:t>
            </a:r>
          </a:p>
        </p:txBody>
      </p:sp>
      <p:sp>
        <p:nvSpPr>
          <p:cNvPr id="40" name="Freeform 40"/>
          <p:cNvSpPr/>
          <p:nvPr/>
        </p:nvSpPr>
        <p:spPr>
          <a:xfrm flipH="1">
            <a:off x="13165016" y="563972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Box 41"/>
          <p:cNvSpPr txBox="1"/>
          <p:nvPr/>
        </p:nvSpPr>
        <p:spPr>
          <a:xfrm>
            <a:off x="14624667" y="6096071"/>
            <a:ext cx="3885270" cy="597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Regulatory Liaison &amp; Representation Support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7575" y="6096071"/>
            <a:ext cx="3478526" cy="905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Risk Mitigation Strategy Development, Implementation &amp; Continuous Monitoring</a:t>
            </a:r>
          </a:p>
        </p:txBody>
      </p:sp>
      <p:sp>
        <p:nvSpPr>
          <p:cNvPr id="43" name="Freeform 43"/>
          <p:cNvSpPr/>
          <p:nvPr/>
        </p:nvSpPr>
        <p:spPr>
          <a:xfrm flipH="1">
            <a:off x="12593516" y="70739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Box 44"/>
          <p:cNvSpPr txBox="1"/>
          <p:nvPr/>
        </p:nvSpPr>
        <p:spPr>
          <a:xfrm>
            <a:off x="14053167" y="7530331"/>
            <a:ext cx="3321166" cy="90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Governance Framework Development &amp; Control Environment Assessment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4935" y="7530331"/>
            <a:ext cx="3892666" cy="90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Internal Reviews to Ensure Compliance &amp; Evaluate Internal Controls</a:t>
            </a:r>
          </a:p>
        </p:txBody>
      </p:sp>
      <p:sp>
        <p:nvSpPr>
          <p:cNvPr id="46" name="Freeform 46"/>
          <p:cNvSpPr/>
          <p:nvPr/>
        </p:nvSpPr>
        <p:spPr>
          <a:xfrm flipH="1">
            <a:off x="12022016" y="8508248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1227782" y="0"/>
                </a:moveTo>
                <a:lnTo>
                  <a:pt x="0" y="0"/>
                </a:lnTo>
                <a:lnTo>
                  <a:pt x="0" y="1248063"/>
                </a:lnTo>
                <a:lnTo>
                  <a:pt x="1227782" y="1248063"/>
                </a:lnTo>
                <a:lnTo>
                  <a:pt x="122778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Box 47"/>
          <p:cNvSpPr txBox="1"/>
          <p:nvPr/>
        </p:nvSpPr>
        <p:spPr>
          <a:xfrm>
            <a:off x="13481667" y="8964590"/>
            <a:ext cx="3291951" cy="90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External Audit Support, Review Assistance &amp; Control Improvement Advisory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3400" y="8964590"/>
            <a:ext cx="4275701" cy="905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 dirty="0">
                <a:solidFill>
                  <a:srgbClr val="383B3B"/>
                </a:solidFill>
                <a:latin typeface="Aileron"/>
                <a:ea typeface="Aileron"/>
                <a:cs typeface="Aileron"/>
                <a:sym typeface="Aileron"/>
              </a:rPr>
              <a:t>Company Incorporation &amp; Drafting of Memorandum and Articles of Association</a:t>
            </a:r>
          </a:p>
        </p:txBody>
      </p:sp>
      <p:sp>
        <p:nvSpPr>
          <p:cNvPr id="49" name="Freeform 49"/>
          <p:cNvSpPr/>
          <p:nvPr/>
        </p:nvSpPr>
        <p:spPr>
          <a:xfrm>
            <a:off x="10947396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0" name="Freeform 50"/>
          <p:cNvSpPr/>
          <p:nvPr/>
        </p:nvSpPr>
        <p:spPr>
          <a:xfrm flipH="1">
            <a:off x="5979733" y="7677968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1" name="Freeform 51"/>
          <p:cNvSpPr/>
          <p:nvPr/>
        </p:nvSpPr>
        <p:spPr>
          <a:xfrm>
            <a:off x="10372583" y="9132280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0" y="0"/>
                </a:moveTo>
                <a:lnTo>
                  <a:pt x="1454858" y="0"/>
                </a:lnTo>
                <a:lnTo>
                  <a:pt x="1454858" y="114907"/>
                </a:lnTo>
                <a:lnTo>
                  <a:pt x="0" y="114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2" name="Freeform 52"/>
          <p:cNvSpPr/>
          <p:nvPr/>
        </p:nvSpPr>
        <p:spPr>
          <a:xfrm flipH="1">
            <a:off x="6549399" y="9132280"/>
            <a:ext cx="1454858" cy="114907"/>
          </a:xfrm>
          <a:custGeom>
            <a:avLst/>
            <a:gdLst/>
            <a:ahLst/>
            <a:cxnLst/>
            <a:rect l="l" t="t" r="r" b="b"/>
            <a:pathLst>
              <a:path w="1454858" h="114907">
                <a:moveTo>
                  <a:pt x="1454858" y="0"/>
                </a:moveTo>
                <a:lnTo>
                  <a:pt x="0" y="0"/>
                </a:lnTo>
                <a:lnTo>
                  <a:pt x="0" y="114907"/>
                </a:lnTo>
                <a:lnTo>
                  <a:pt x="1454858" y="114907"/>
                </a:lnTo>
                <a:lnTo>
                  <a:pt x="14548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147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3" name="Freeform 53"/>
          <p:cNvSpPr/>
          <p:nvPr/>
        </p:nvSpPr>
        <p:spPr>
          <a:xfrm>
            <a:off x="3894701" y="4224520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4" name="Freeform 54"/>
          <p:cNvSpPr/>
          <p:nvPr/>
        </p:nvSpPr>
        <p:spPr>
          <a:xfrm>
            <a:off x="3894701" y="5668304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5" name="Freeform 55"/>
          <p:cNvSpPr/>
          <p:nvPr/>
        </p:nvSpPr>
        <p:spPr>
          <a:xfrm>
            <a:off x="4466201" y="7112089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6" name="Freeform 56"/>
          <p:cNvSpPr/>
          <p:nvPr/>
        </p:nvSpPr>
        <p:spPr>
          <a:xfrm>
            <a:off x="5037701" y="8555873"/>
            <a:ext cx="1227782" cy="1248063"/>
          </a:xfrm>
          <a:custGeom>
            <a:avLst/>
            <a:gdLst/>
            <a:ahLst/>
            <a:cxnLst/>
            <a:rect l="l" t="t" r="r" b="b"/>
            <a:pathLst>
              <a:path w="1227782" h="1248063">
                <a:moveTo>
                  <a:pt x="0" y="0"/>
                </a:moveTo>
                <a:lnTo>
                  <a:pt x="1227782" y="0"/>
                </a:lnTo>
                <a:lnTo>
                  <a:pt x="1227782" y="1248063"/>
                </a:lnTo>
                <a:lnTo>
                  <a:pt x="0" y="12480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Box 57"/>
          <p:cNvSpPr txBox="1"/>
          <p:nvPr/>
        </p:nvSpPr>
        <p:spPr>
          <a:xfrm>
            <a:off x="12413880" y="180674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429565" y="180674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413880" y="897804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29565" y="9025672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985380" y="3241009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858065" y="3250534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985380" y="75437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858065" y="7581887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556880" y="467526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09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286565" y="469431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556880" y="6109528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86565" y="6138103"/>
            <a:ext cx="444054" cy="3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7578243" y="9968163"/>
            <a:ext cx="169918" cy="19858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14</a:t>
            </a:r>
          </a:p>
        </p:txBody>
      </p:sp>
      <p:sp>
        <p:nvSpPr>
          <p:cNvPr id="72" name="TextBox 24">
            <a:extLst>
              <a:ext uri="{FF2B5EF4-FFF2-40B4-BE49-F238E27FC236}">
                <a16:creationId xmlns:a16="http://schemas.microsoft.com/office/drawing/2014/main" id="{5A493797-7F79-44DF-B32F-700F31AA5564}"/>
              </a:ext>
            </a:extLst>
          </p:cNvPr>
          <p:cNvSpPr txBox="1"/>
          <p:nvPr/>
        </p:nvSpPr>
        <p:spPr>
          <a:xfrm>
            <a:off x="7108760" y="4900362"/>
            <a:ext cx="3920515" cy="18081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IN" sz="3928" dirty="0">
                <a:solidFill>
                  <a:srgbClr val="000000"/>
                </a:solidFill>
                <a:latin typeface="Archivo Black"/>
              </a:rPr>
              <a:t>Compliance, Learning &amp; Innovation</a:t>
            </a:r>
          </a:p>
        </p:txBody>
      </p:sp>
      <p:sp>
        <p:nvSpPr>
          <p:cNvPr id="71" name="Freeform 20">
            <a:extLst>
              <a:ext uri="{FF2B5EF4-FFF2-40B4-BE49-F238E27FC236}">
                <a16:creationId xmlns:a16="http://schemas.microsoft.com/office/drawing/2014/main" id="{DCB37A98-1217-4DB7-9458-779AC56C3D6C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2002786"/>
            <a:ext cx="8198381" cy="8284214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1"/>
                </a:lnTo>
                <a:lnTo>
                  <a:pt x="0" y="9837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96" b="-1875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3929878" y="4726991"/>
            <a:ext cx="2903204" cy="3788833"/>
            <a:chOff x="0" y="0"/>
            <a:chExt cx="812800" cy="10607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097914" y="3341548"/>
            <a:ext cx="2567131" cy="2567121"/>
            <a:chOff x="0" y="0"/>
            <a:chExt cx="6350000" cy="63499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13735" t="-98" r="-14453" b="-283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AutoShape 8"/>
          <p:cNvSpPr/>
          <p:nvPr/>
        </p:nvSpPr>
        <p:spPr>
          <a:xfrm flipH="1">
            <a:off x="5101493" y="7280461"/>
            <a:ext cx="55997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42969" y="4726991"/>
            <a:ext cx="2903204" cy="3788833"/>
            <a:chOff x="0" y="0"/>
            <a:chExt cx="812800" cy="10607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1005" y="3341548"/>
            <a:ext cx="2567131" cy="2567121"/>
            <a:chOff x="0" y="0"/>
            <a:chExt cx="6350000" cy="63499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1414584" y="7280461"/>
            <a:ext cx="55997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1695370" y="5080054"/>
            <a:ext cx="6592630" cy="5185010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1" y="0"/>
                </a:lnTo>
                <a:lnTo>
                  <a:pt x="9837731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9224" b="-8973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1469836" y="4706973"/>
            <a:ext cx="2903204" cy="3788833"/>
            <a:chOff x="0" y="0"/>
            <a:chExt cx="812800" cy="106074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37872" y="3321530"/>
            <a:ext cx="2567131" cy="2567121"/>
            <a:chOff x="0" y="0"/>
            <a:chExt cx="6350000" cy="63499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13748" r="-13024" b="-2677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1" name="AutoShape 21"/>
          <p:cNvSpPr/>
          <p:nvPr/>
        </p:nvSpPr>
        <p:spPr>
          <a:xfrm flipH="1">
            <a:off x="12641451" y="7260444"/>
            <a:ext cx="55997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2" name="Group 22"/>
          <p:cNvGrpSpPr/>
          <p:nvPr/>
        </p:nvGrpSpPr>
        <p:grpSpPr>
          <a:xfrm>
            <a:off x="7699857" y="4706973"/>
            <a:ext cx="2903204" cy="3788833"/>
            <a:chOff x="0" y="0"/>
            <a:chExt cx="812800" cy="106074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0917" y="3153494"/>
            <a:ext cx="2735167" cy="2735156"/>
            <a:chOff x="0" y="0"/>
            <a:chExt cx="6350000" cy="63499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-74711" t="-6772" r="-74974" b="-5926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28700" y="1162050"/>
            <a:ext cx="12867397" cy="1079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CB1944"/>
                </a:solidFill>
                <a:latin typeface="Archivo Black"/>
                <a:ea typeface="Archivo Black"/>
                <a:cs typeface="Archivo Black"/>
                <a:sym typeface="Archivo Black"/>
              </a:rPr>
              <a:t>GOVERNANCE BOARD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08725" y="7460080"/>
            <a:ext cx="2545509" cy="65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4"/>
              </a:lnSpc>
              <a:spcBef>
                <a:spcPct val="0"/>
              </a:spcBef>
            </a:pPr>
            <a:r>
              <a:rPr lang="en-US" sz="1881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FCA, CIA</a:t>
            </a:r>
          </a:p>
          <a:p>
            <a:pPr marL="0" lvl="0" indent="0" algn="ctr">
              <a:lnSpc>
                <a:spcPts val="2634"/>
              </a:lnSpc>
              <a:spcBef>
                <a:spcPct val="0"/>
              </a:spcBef>
            </a:pPr>
            <a:endParaRPr lang="en-US" sz="1881" u="none" strike="noStrike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002388" y="6164236"/>
            <a:ext cx="2758183" cy="855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24"/>
              </a:lnSpc>
              <a:spcBef>
                <a:spcPct val="0"/>
              </a:spcBef>
            </a:pPr>
            <a:r>
              <a:rPr lang="en-US" sz="2445" spc="12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NIKHEL</a:t>
            </a:r>
            <a:r>
              <a:rPr lang="en-US" sz="2445" u="none" spc="12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KOCHHAR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2969" y="7460080"/>
            <a:ext cx="2905320" cy="984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4"/>
              </a:lnSpc>
              <a:spcBef>
                <a:spcPct val="0"/>
              </a:spcBef>
            </a:pPr>
            <a:r>
              <a:rPr lang="en-US" sz="1881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FCA, CISA, ISO 27001, NISM(DP), </a:t>
            </a:r>
          </a:p>
          <a:p>
            <a:pPr marL="0" lvl="0" indent="0" algn="ctr">
              <a:lnSpc>
                <a:spcPts val="2634"/>
              </a:lnSpc>
              <a:spcBef>
                <a:spcPct val="0"/>
              </a:spcBef>
            </a:pPr>
            <a:r>
              <a:rPr lang="en-US" sz="1881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NISM(Social Auditor)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0977" y="6164236"/>
            <a:ext cx="2487188" cy="855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24"/>
              </a:lnSpc>
              <a:spcBef>
                <a:spcPct val="0"/>
              </a:spcBef>
            </a:pPr>
            <a:r>
              <a:rPr lang="en-US" sz="2445" spc="12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HUZEIFA</a:t>
            </a:r>
            <a:r>
              <a:rPr lang="en-US" sz="2445" u="none" spc="12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UNWALA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48683" y="7440063"/>
            <a:ext cx="2545509" cy="653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4"/>
              </a:lnSpc>
              <a:spcBef>
                <a:spcPct val="0"/>
              </a:spcBef>
            </a:pPr>
            <a:r>
              <a:rPr lang="en-US" sz="1881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 (Hons), FCA, ICWAI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42346" y="6144219"/>
            <a:ext cx="2758183" cy="855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24"/>
              </a:lnSpc>
              <a:spcBef>
                <a:spcPct val="0"/>
              </a:spcBef>
            </a:pPr>
            <a:r>
              <a:rPr lang="en-US" sz="2445" spc="12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SHARAD</a:t>
            </a:r>
            <a:r>
              <a:rPr lang="en-US" sz="2445" u="none" spc="12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MOHATA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86733" y="7440063"/>
            <a:ext cx="2529451" cy="32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4"/>
              </a:lnSpc>
              <a:spcBef>
                <a:spcPct val="0"/>
              </a:spcBef>
            </a:pPr>
            <a:r>
              <a:rPr lang="en-US" sz="1881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 (Hons), FCA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07865" y="6144219"/>
            <a:ext cx="2487188" cy="855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24"/>
              </a:lnSpc>
              <a:spcBef>
                <a:spcPct val="0"/>
              </a:spcBef>
            </a:pPr>
            <a:r>
              <a:rPr lang="en-US" sz="2445" u="none" spc="12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KALPESH PARMAR</a:t>
            </a:r>
          </a:p>
        </p:txBody>
      </p:sp>
      <p:sp>
        <p:nvSpPr>
          <p:cNvPr id="36" name="AutoShape 36"/>
          <p:cNvSpPr/>
          <p:nvPr/>
        </p:nvSpPr>
        <p:spPr>
          <a:xfrm flipH="1">
            <a:off x="8836482" y="7260444"/>
            <a:ext cx="55997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Box 37"/>
          <p:cNvSpPr txBox="1"/>
          <p:nvPr/>
        </p:nvSpPr>
        <p:spPr>
          <a:xfrm>
            <a:off x="17587002" y="9968163"/>
            <a:ext cx="291444" cy="198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15</a:t>
            </a:r>
          </a:p>
        </p:txBody>
      </p:sp>
      <p:sp>
        <p:nvSpPr>
          <p:cNvPr id="38" name="AutoShape 38"/>
          <p:cNvSpPr/>
          <p:nvPr/>
        </p:nvSpPr>
        <p:spPr>
          <a:xfrm flipH="1">
            <a:off x="1028700" y="2251032"/>
            <a:ext cx="328612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0" name="Group 40"/>
          <p:cNvGrpSpPr/>
          <p:nvPr/>
        </p:nvGrpSpPr>
        <p:grpSpPr>
          <a:xfrm>
            <a:off x="15154089" y="4686956"/>
            <a:ext cx="2903204" cy="3788833"/>
            <a:chOff x="0" y="0"/>
            <a:chExt cx="812800" cy="106074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226600" y="3321530"/>
            <a:ext cx="2722905" cy="2643070"/>
            <a:chOff x="-31250" y="44802"/>
            <a:chExt cx="6350000" cy="5915661"/>
          </a:xfrm>
        </p:grpSpPr>
        <p:sp>
          <p:nvSpPr>
            <p:cNvPr id="44" name="Freeform 44"/>
            <p:cNvSpPr/>
            <p:nvPr/>
          </p:nvSpPr>
          <p:spPr>
            <a:xfrm>
              <a:off x="-31250" y="44802"/>
              <a:ext cx="6350000" cy="5915661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7813" b="93555" l="9961" r="89844">
                            <a14:foregroundMark x1="40723" y1="60254" x2="40723" y2="60254"/>
                            <a14:foregroundMark x1="10352" y1="71777" x2="10352" y2="71777"/>
                            <a14:foregroundMark x1="90039" y1="72949" x2="90039" y2="72949"/>
                            <a14:foregroundMark x1="45117" y1="7910" x2="45117" y2="7910"/>
                            <a14:foregroundMark x1="43750" y1="59082" x2="43750" y2="59082"/>
                            <a14:foregroundMark x1="53418" y1="89746" x2="53418" y2="89746"/>
                            <a14:foregroundMark x1="53223" y1="93555" x2="53223" y2="9355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6495" t="-4803" r="-8048" b="-15385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45" name="AutoShape 45"/>
          <p:cNvSpPr/>
          <p:nvPr/>
        </p:nvSpPr>
        <p:spPr>
          <a:xfrm flipH="1">
            <a:off x="16325705" y="7240426"/>
            <a:ext cx="55997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Box 46"/>
          <p:cNvSpPr txBox="1"/>
          <p:nvPr/>
        </p:nvSpPr>
        <p:spPr>
          <a:xfrm>
            <a:off x="15332937" y="7420045"/>
            <a:ext cx="2545509" cy="32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4"/>
              </a:lnSpc>
              <a:spcBef>
                <a:spcPct val="0"/>
              </a:spcBef>
            </a:pPr>
            <a:r>
              <a:rPr lang="en-US" sz="188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FCA, MBA (Finance)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226600" y="6124201"/>
            <a:ext cx="2758183" cy="855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4"/>
              </a:lnSpc>
            </a:pPr>
            <a:r>
              <a:rPr lang="en-US" sz="2445" spc="12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VINOD</a:t>
            </a:r>
          </a:p>
          <a:p>
            <a:pPr marL="0" lvl="0" indent="0" algn="ctr">
              <a:lnSpc>
                <a:spcPts val="3424"/>
              </a:lnSpc>
              <a:spcBef>
                <a:spcPct val="0"/>
              </a:spcBef>
            </a:pPr>
            <a:r>
              <a:rPr lang="en-US" sz="2445" u="none" spc="12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JOSHI</a:t>
            </a:r>
          </a:p>
        </p:txBody>
      </p:sp>
      <p:sp>
        <p:nvSpPr>
          <p:cNvPr id="48" name="Freeform 20">
            <a:extLst>
              <a:ext uri="{FF2B5EF4-FFF2-40B4-BE49-F238E27FC236}">
                <a16:creationId xmlns:a16="http://schemas.microsoft.com/office/drawing/2014/main" id="{F28A887A-A5E2-4A85-BD40-022D6E46C873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3"/>
          <p:cNvSpPr/>
          <p:nvPr/>
        </p:nvSpPr>
        <p:spPr>
          <a:xfrm>
            <a:off x="-36764" y="6029267"/>
            <a:ext cx="4852704" cy="4257733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2726" r="-1" b="-131056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3195875" y="-266700"/>
            <a:ext cx="5092125" cy="9040616"/>
          </a:xfrm>
          <a:custGeom>
            <a:avLst/>
            <a:gdLst/>
            <a:ahLst/>
            <a:cxnLst/>
            <a:rect l="l" t="t" r="r" b="b"/>
            <a:pathLst>
              <a:path w="9837732" h="9837732">
                <a:moveTo>
                  <a:pt x="0" y="0"/>
                </a:moveTo>
                <a:lnTo>
                  <a:pt x="9837732" y="0"/>
                </a:lnTo>
                <a:lnTo>
                  <a:pt x="9837732" y="9837732"/>
                </a:lnTo>
                <a:lnTo>
                  <a:pt x="0" y="983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8818" r="-93195" b="1"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2521937" y="1940470"/>
            <a:ext cx="1134092" cy="1480049"/>
            <a:chOff x="0" y="0"/>
            <a:chExt cx="812800" cy="10607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87578" y="1399268"/>
            <a:ext cx="1002810" cy="1002806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42852" t="-19510" r="-39432" b="-17203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 flipH="1">
            <a:off x="2903792" y="2937944"/>
            <a:ext cx="21874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620820" y="1940470"/>
            <a:ext cx="1134092" cy="1480049"/>
            <a:chOff x="0" y="0"/>
            <a:chExt cx="812800" cy="10607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6461" y="1399268"/>
            <a:ext cx="1002810" cy="1002806"/>
            <a:chOff x="0" y="0"/>
            <a:chExt cx="6350000" cy="63499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42316" t="-17285" r="-41533" b="-20602"/>
              </a:stretch>
            </a:blipFill>
          </p:spPr>
        </p:sp>
      </p:grpSp>
      <p:sp>
        <p:nvSpPr>
          <p:cNvPr id="13" name="AutoShape 13"/>
          <p:cNvSpPr/>
          <p:nvPr/>
        </p:nvSpPr>
        <p:spPr>
          <a:xfrm flipH="1">
            <a:off x="1078494" y="2937944"/>
            <a:ext cx="21874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4421401" y="1940470"/>
            <a:ext cx="1134092" cy="1480049"/>
            <a:chOff x="0" y="0"/>
            <a:chExt cx="812800" cy="10607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87042" y="1399268"/>
            <a:ext cx="1002810" cy="1002806"/>
            <a:chOff x="0" y="0"/>
            <a:chExt cx="6350000" cy="63499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36856" t="-17347" r="-45015" b="-19057"/>
              </a:stretch>
            </a:blipFill>
          </p:spPr>
        </p:sp>
      </p:grpSp>
      <p:sp>
        <p:nvSpPr>
          <p:cNvPr id="19" name="AutoShape 19"/>
          <p:cNvSpPr/>
          <p:nvPr/>
        </p:nvSpPr>
        <p:spPr>
          <a:xfrm flipH="1">
            <a:off x="4879074" y="2937944"/>
            <a:ext cx="21874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8297201" y="1922687"/>
            <a:ext cx="1134092" cy="1480049"/>
            <a:chOff x="0" y="0"/>
            <a:chExt cx="812800" cy="106074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362842" y="1381485"/>
            <a:ext cx="1002810" cy="1002806"/>
            <a:chOff x="0" y="0"/>
            <a:chExt cx="6350000" cy="63499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-46995" t="-24962" r="-45704" b="-19563"/>
              </a:stretch>
            </a:blipFill>
          </p:spPr>
        </p:sp>
      </p:grpSp>
      <p:sp>
        <p:nvSpPr>
          <p:cNvPr id="25" name="AutoShape 25"/>
          <p:cNvSpPr/>
          <p:nvPr/>
        </p:nvSpPr>
        <p:spPr>
          <a:xfrm flipH="1">
            <a:off x="8698197" y="2937944"/>
            <a:ext cx="21874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6335245" y="1940470"/>
            <a:ext cx="1134092" cy="1480049"/>
            <a:chOff x="0" y="0"/>
            <a:chExt cx="812800" cy="106074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00886" y="1399268"/>
            <a:ext cx="1002810" cy="1002806"/>
            <a:chOff x="0" y="0"/>
            <a:chExt cx="6350000" cy="63499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t="-3191" b="-3191"/>
              </a:stretch>
            </a:blipFill>
          </p:spPr>
        </p:sp>
      </p:grpSp>
      <p:sp>
        <p:nvSpPr>
          <p:cNvPr id="31" name="AutoShape 31"/>
          <p:cNvSpPr/>
          <p:nvPr/>
        </p:nvSpPr>
        <p:spPr>
          <a:xfrm flipH="1">
            <a:off x="6792918" y="2937944"/>
            <a:ext cx="21874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2" name="Group 52"/>
          <p:cNvGrpSpPr/>
          <p:nvPr/>
        </p:nvGrpSpPr>
        <p:grpSpPr>
          <a:xfrm>
            <a:off x="3122537" y="5242597"/>
            <a:ext cx="1136755" cy="1483525"/>
            <a:chOff x="0" y="0"/>
            <a:chExt cx="812800" cy="106074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137226" y="4698016"/>
            <a:ext cx="1108364" cy="1005161"/>
            <a:chOff x="0" y="0"/>
            <a:chExt cx="7001943" cy="6349975"/>
          </a:xfrm>
        </p:grpSpPr>
        <p:sp>
          <p:nvSpPr>
            <p:cNvPr id="56" name="Freeform 56"/>
            <p:cNvSpPr/>
            <p:nvPr/>
          </p:nvSpPr>
          <p:spPr>
            <a:xfrm rot="-74978">
              <a:off x="-37408" y="-41412"/>
              <a:ext cx="7076759" cy="6432799"/>
            </a:xfrm>
            <a:custGeom>
              <a:avLst/>
              <a:gdLst/>
              <a:ahLst/>
              <a:cxnLst/>
              <a:rect l="l" t="t" r="r" b="b"/>
              <a:pathLst>
                <a:path w="7076759" h="6432799">
                  <a:moveTo>
                    <a:pt x="7038518" y="3292789"/>
                  </a:moveTo>
                  <a:cubicBezTo>
                    <a:pt x="7000278" y="5045797"/>
                    <a:pt x="5402180" y="6432799"/>
                    <a:pt x="3469138" y="6390632"/>
                  </a:cubicBezTo>
                  <a:cubicBezTo>
                    <a:pt x="1536067" y="6348464"/>
                    <a:pt x="0" y="4893095"/>
                    <a:pt x="38240" y="3140086"/>
                  </a:cubicBezTo>
                  <a:cubicBezTo>
                    <a:pt x="76481" y="1386989"/>
                    <a:pt x="1674551" y="0"/>
                    <a:pt x="3607622" y="42167"/>
                  </a:cubicBezTo>
                  <a:cubicBezTo>
                    <a:pt x="5540692" y="84335"/>
                    <a:pt x="7076759" y="1539691"/>
                    <a:pt x="7038518" y="3292789"/>
                  </a:cubicBezTo>
                  <a:close/>
                </a:path>
              </a:pathLst>
            </a:custGeom>
            <a:blipFill>
              <a:blip r:embed="rId9"/>
              <a:stretch>
                <a:fillRect l="-41417" t="-21129" r="-40965" b="-29688"/>
              </a:stretch>
            </a:blipFill>
          </p:spPr>
        </p:sp>
      </p:grpSp>
      <p:sp>
        <p:nvSpPr>
          <p:cNvPr id="57" name="AutoShape 57"/>
          <p:cNvSpPr/>
          <p:nvPr/>
        </p:nvSpPr>
        <p:spPr>
          <a:xfrm flipH="1">
            <a:off x="3570924" y="6243396"/>
            <a:ext cx="21925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8" name="Group 58"/>
          <p:cNvGrpSpPr/>
          <p:nvPr/>
        </p:nvGrpSpPr>
        <p:grpSpPr>
          <a:xfrm>
            <a:off x="620820" y="5318839"/>
            <a:ext cx="1152308" cy="1483525"/>
            <a:chOff x="0" y="0"/>
            <a:chExt cx="823921" cy="106074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23921" cy="1060746"/>
            </a:xfrm>
            <a:custGeom>
              <a:avLst/>
              <a:gdLst/>
              <a:ahLst/>
              <a:cxnLst/>
              <a:rect l="l" t="t" r="r" b="b"/>
              <a:pathLst>
                <a:path w="823921" h="1060746">
                  <a:moveTo>
                    <a:pt x="0" y="0"/>
                  </a:moveTo>
                  <a:lnTo>
                    <a:pt x="823921" y="0"/>
                  </a:lnTo>
                  <a:lnTo>
                    <a:pt x="823921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823921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6615" y="4776365"/>
            <a:ext cx="1005165" cy="1005161"/>
            <a:chOff x="0" y="0"/>
            <a:chExt cx="6350000" cy="634997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0"/>
              <a:stretch>
                <a:fillRect l="-2487" r="-2487"/>
              </a:stretch>
            </a:blipFill>
          </p:spPr>
        </p:sp>
      </p:grpSp>
      <p:sp>
        <p:nvSpPr>
          <p:cNvPr id="63" name="AutoShape 63"/>
          <p:cNvSpPr/>
          <p:nvPr/>
        </p:nvSpPr>
        <p:spPr>
          <a:xfrm flipH="1">
            <a:off x="1081897" y="6318655"/>
            <a:ext cx="21925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4" name="Group 64"/>
          <p:cNvGrpSpPr/>
          <p:nvPr/>
        </p:nvGrpSpPr>
        <p:grpSpPr>
          <a:xfrm>
            <a:off x="5487722" y="5218351"/>
            <a:ext cx="1136755" cy="1483525"/>
            <a:chOff x="0" y="0"/>
            <a:chExt cx="812800" cy="106074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553517" y="4679736"/>
            <a:ext cx="1005165" cy="1005161"/>
            <a:chOff x="0" y="0"/>
            <a:chExt cx="6350000" cy="634997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1"/>
              <a:stretch>
                <a:fillRect t="-671" r="-24263" b="-9873"/>
              </a:stretch>
            </a:blipFill>
          </p:spPr>
        </p:sp>
      </p:grpSp>
      <p:sp>
        <p:nvSpPr>
          <p:cNvPr id="69" name="AutoShape 69"/>
          <p:cNvSpPr/>
          <p:nvPr/>
        </p:nvSpPr>
        <p:spPr>
          <a:xfrm flipH="1">
            <a:off x="5946470" y="6218167"/>
            <a:ext cx="21925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6" name="Group 76"/>
          <p:cNvGrpSpPr/>
          <p:nvPr/>
        </p:nvGrpSpPr>
        <p:grpSpPr>
          <a:xfrm>
            <a:off x="12171700" y="5218087"/>
            <a:ext cx="1136755" cy="1483525"/>
            <a:chOff x="0" y="0"/>
            <a:chExt cx="812800" cy="106074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2237495" y="4654857"/>
            <a:ext cx="1049501" cy="1026865"/>
            <a:chOff x="0" y="0"/>
            <a:chExt cx="6350000" cy="6349975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2" cstate="print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4963" b="86370" l="11204" r="88704">
                            <a14:foregroundMark x1="52130" y1="5407" x2="52130" y2="5407"/>
                            <a14:foregroundMark x1="27500" y1="63778" x2="27500" y2="63778"/>
                            <a14:foregroundMark x1="27500" y1="63778" x2="28704" y2="63111"/>
                            <a14:foregroundMark x1="29259" y1="62667" x2="75741" y2="68741"/>
                            <a14:foregroundMark x1="75741" y1="68741" x2="66667" y2="59630"/>
                            <a14:foregroundMark x1="62778" y1="66000" x2="42130" y2="75037"/>
                            <a14:foregroundMark x1="33519" y1="73778" x2="31019" y2="57852"/>
                            <a14:foregroundMark x1="29259" y1="57481" x2="29259" y2="57481"/>
                            <a14:foregroundMark x1="30093" y1="53926" x2="30093" y2="53926"/>
                            <a14:foregroundMark x1="29352" y1="53926" x2="29352" y2="53926"/>
                            <a14:foregroundMark x1="29352" y1="53926" x2="29352" y2="53926"/>
                            <a14:foregroundMark x1="29352" y1="53926" x2="29352" y2="53926"/>
                            <a14:foregroundMark x1="29352" y1="53926" x2="29352" y2="53926"/>
                            <a14:foregroundMark x1="29352" y1="53926" x2="29352" y2="53926"/>
                            <a14:foregroundMark x1="29352" y1="53926" x2="29352" y2="53926"/>
                            <a14:foregroundMark x1="29352" y1="53926" x2="28426" y2="57333"/>
                            <a14:foregroundMark x1="25926" y1="58593" x2="15556" y2="67481"/>
                            <a14:foregroundMark x1="11296" y1="64148" x2="19259" y2="62815"/>
                            <a14:foregroundMark x1="28704" y1="67037" x2="29074" y2="67630"/>
                            <a14:foregroundMark x1="69259" y1="56889" x2="83333" y2="65852"/>
                            <a14:foregroundMark x1="78426" y1="59630" x2="87222" y2="63481"/>
                            <a14:foregroundMark x1="82500" y1="60593" x2="85000" y2="61704"/>
                            <a14:foregroundMark x1="84352" y1="61037" x2="84352" y2="61037"/>
                            <a14:foregroundMark x1="84907" y1="61185" x2="84907" y2="61185"/>
                            <a14:foregroundMark x1="87593" y1="61556" x2="87593" y2="61556"/>
                            <a14:foregroundMark x1="87593" y1="61556" x2="87593" y2="61556"/>
                            <a14:foregroundMark x1="88796" y1="64296" x2="88796" y2="64296"/>
                            <a14:foregroundMark x1="88796" y1="64296" x2="88796" y2="64296"/>
                            <a14:foregroundMark x1="88426" y1="62296" x2="88426" y2="62296"/>
                            <a14:foregroundMark x1="86667" y1="60519" x2="86667" y2="60519"/>
                            <a14:foregroundMark x1="59630" y1="67185" x2="18241" y2="69259"/>
                            <a14:foregroundMark x1="18241" y1="69259" x2="17500" y2="68741"/>
                            <a14:foregroundMark x1="53796" y1="74148" x2="43519" y2="68815"/>
                            <a14:foregroundMark x1="42407" y1="74148" x2="35463" y2="74741"/>
                            <a14:foregroundMark x1="35463" y1="75259" x2="38148" y2="74148"/>
                            <a14:foregroundMark x1="37315" y1="80222" x2="37315" y2="80222"/>
                            <a14:foregroundMark x1="37500" y1="79778" x2="37500" y2="79778"/>
                            <a14:foregroundMark x1="37500" y1="79778" x2="37500" y2="79778"/>
                            <a14:foregroundMark x1="39352" y1="78148" x2="39352" y2="78148"/>
                            <a14:foregroundMark x1="39352" y1="78148" x2="39352" y2="78148"/>
                            <a14:foregroundMark x1="39352" y1="78148" x2="39352" y2="78148"/>
                            <a14:foregroundMark x1="39352" y1="78148" x2="39352" y2="78148"/>
                            <a14:foregroundMark x1="39352" y1="78148" x2="39352" y2="78148"/>
                            <a14:foregroundMark x1="39352" y1="78148" x2="39352" y2="78148"/>
                            <a14:foregroundMark x1="36204" y1="77333" x2="30926" y2="72148"/>
                            <a14:foregroundMark x1="30926" y1="72148" x2="47778" y2="80519"/>
                            <a14:foregroundMark x1="41759" y1="75556" x2="41759" y2="75556"/>
                            <a14:foregroundMark x1="42037" y1="75704" x2="74444" y2="73333"/>
                            <a14:foregroundMark x1="79074" y1="67481" x2="61852" y2="77778"/>
                            <a14:foregroundMark x1="79352" y1="67630" x2="62407" y2="80519"/>
                            <a14:foregroundMark x1="80370" y1="66222" x2="69815" y2="76889"/>
                            <a14:foregroundMark x1="82685" y1="66370" x2="71852" y2="75704"/>
                            <a14:foregroundMark x1="75185" y1="71704" x2="60741" y2="82815"/>
                            <a14:foregroundMark x1="68611" y1="76815" x2="45000" y2="82370"/>
                            <a14:foregroundMark x1="58148" y1="81407" x2="42407" y2="81333"/>
                            <a14:foregroundMark x1="40185" y1="80889" x2="25000" y2="73778"/>
                            <a14:foregroundMark x1="40185" y1="82000" x2="24167" y2="73778"/>
                            <a14:foregroundMark x1="44722" y1="80741" x2="18426" y2="70741"/>
                            <a14:foregroundMark x1="23056" y1="70593" x2="46204" y2="82815"/>
                            <a14:foregroundMark x1="42222" y1="82296" x2="20648" y2="71556"/>
                            <a14:foregroundMark x1="20648" y1="71704" x2="31759" y2="79407"/>
                            <a14:foregroundMark x1="31759" y1="79407" x2="31759" y2="79407"/>
                            <a14:foregroundMark x1="25463" y1="75704" x2="41852" y2="84593"/>
                            <a14:foregroundMark x1="36481" y1="81852" x2="13333" y2="68148"/>
                            <a14:foregroundMark x1="24444" y1="76074" x2="35278" y2="80222"/>
                            <a14:foregroundMark x1="32130" y1="80741" x2="37037" y2="82000"/>
                            <a14:foregroundMark x1="30741" y1="80593" x2="34722" y2="80741"/>
                            <a14:foregroundMark x1="31759" y1="81037" x2="22778" y2="76370"/>
                            <a14:foregroundMark x1="81019" y1="68444" x2="81019" y2="71037"/>
                            <a14:foregroundMark x1="80463" y1="69556" x2="69537" y2="77778"/>
                            <a14:foregroundMark x1="77593" y1="70889" x2="68426" y2="77778"/>
                            <a14:foregroundMark x1="69815" y1="77185" x2="80741" y2="70370"/>
                            <a14:foregroundMark x1="80741" y1="70370" x2="62778" y2="78444"/>
                            <a14:foregroundMark x1="66481" y1="78593" x2="79815" y2="72815"/>
                            <a14:foregroundMark x1="78333" y1="73333" x2="66759" y2="77481"/>
                            <a14:foregroundMark x1="66944" y1="77481" x2="74352" y2="76222"/>
                            <a14:foregroundMark x1="73796" y1="76667" x2="73796" y2="76667"/>
                            <a14:foregroundMark x1="54722" y1="82296" x2="47222" y2="86370"/>
                            <a14:foregroundMark x1="55556" y1="79926" x2="66111" y2="80519"/>
                            <a14:foregroundMark x1="59074" y1="81037" x2="59074" y2="81037"/>
                            <a14:foregroundMark x1="59074" y1="81037" x2="59074" y2="81037"/>
                            <a14:foregroundMark x1="75648" y1="59556" x2="82407" y2="63333"/>
                            <a14:foregroundMark x1="68981" y1="75704" x2="73519" y2="78963"/>
                            <a14:backgroundMark x1="32778" y1="60741" x2="32778" y2="6074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l="-6288" t="3812" r="-9009" b="-19108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81" name="AutoShape 81"/>
          <p:cNvSpPr/>
          <p:nvPr/>
        </p:nvSpPr>
        <p:spPr>
          <a:xfrm flipH="1">
            <a:off x="12630448" y="6224331"/>
            <a:ext cx="21925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2" name="Group 82"/>
          <p:cNvGrpSpPr/>
          <p:nvPr/>
        </p:nvGrpSpPr>
        <p:grpSpPr>
          <a:xfrm>
            <a:off x="2206795" y="8476357"/>
            <a:ext cx="1145117" cy="1494438"/>
            <a:chOff x="0" y="0"/>
            <a:chExt cx="812800" cy="106074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2273074" y="7929894"/>
            <a:ext cx="1012559" cy="1012555"/>
            <a:chOff x="0" y="0"/>
            <a:chExt cx="6350000" cy="6349975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4"/>
              <a:stretch>
                <a:fillRect l="-19501" t="-221" r="-14128" b="-34001"/>
              </a:stretch>
            </a:blipFill>
          </p:spPr>
        </p:sp>
      </p:grpSp>
      <p:sp>
        <p:nvSpPr>
          <p:cNvPr id="87" name="AutoShape 87"/>
          <p:cNvSpPr/>
          <p:nvPr/>
        </p:nvSpPr>
        <p:spPr>
          <a:xfrm flipH="1">
            <a:off x="2668918" y="9483529"/>
            <a:ext cx="2208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8" name="Group 88"/>
          <p:cNvGrpSpPr/>
          <p:nvPr/>
        </p:nvGrpSpPr>
        <p:grpSpPr>
          <a:xfrm>
            <a:off x="620820" y="8478787"/>
            <a:ext cx="1134092" cy="1494438"/>
            <a:chOff x="0" y="0"/>
            <a:chExt cx="804974" cy="106074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04974" cy="1060746"/>
            </a:xfrm>
            <a:custGeom>
              <a:avLst/>
              <a:gdLst/>
              <a:ahLst/>
              <a:cxnLst/>
              <a:rect l="l" t="t" r="r" b="b"/>
              <a:pathLst>
                <a:path w="804974" h="1060746">
                  <a:moveTo>
                    <a:pt x="0" y="0"/>
                  </a:moveTo>
                  <a:lnTo>
                    <a:pt x="804974" y="0"/>
                  </a:lnTo>
                  <a:lnTo>
                    <a:pt x="804974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804974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87099" y="7932323"/>
            <a:ext cx="1012559" cy="1012555"/>
            <a:chOff x="0" y="0"/>
            <a:chExt cx="6350000" cy="6349975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5"/>
              <a:stretch>
                <a:fillRect l="-22928" r="-16057" b="-39635"/>
              </a:stretch>
            </a:blipFill>
          </p:spPr>
        </p:sp>
      </p:grpSp>
      <p:sp>
        <p:nvSpPr>
          <p:cNvPr id="93" name="AutoShape 93"/>
          <p:cNvSpPr/>
          <p:nvPr/>
        </p:nvSpPr>
        <p:spPr>
          <a:xfrm flipH="1">
            <a:off x="1082943" y="9485958"/>
            <a:ext cx="2208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4" name="Group 94"/>
          <p:cNvGrpSpPr/>
          <p:nvPr/>
        </p:nvGrpSpPr>
        <p:grpSpPr>
          <a:xfrm>
            <a:off x="8419790" y="7919824"/>
            <a:ext cx="1145117" cy="2040901"/>
            <a:chOff x="0" y="0"/>
            <a:chExt cx="1526823" cy="2721202"/>
          </a:xfrm>
        </p:grpSpPr>
        <p:grpSp>
          <p:nvGrpSpPr>
            <p:cNvPr id="95" name="Group 95"/>
            <p:cNvGrpSpPr/>
            <p:nvPr/>
          </p:nvGrpSpPr>
          <p:grpSpPr>
            <a:xfrm>
              <a:off x="0" y="728618"/>
              <a:ext cx="1526823" cy="1992584"/>
              <a:chOff x="0" y="0"/>
              <a:chExt cx="812800" cy="1060746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812800" cy="10607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060746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060746"/>
                    </a:lnTo>
                    <a:lnTo>
                      <a:pt x="0" y="1060746"/>
                    </a:lnTo>
                    <a:close/>
                  </a:path>
                </a:pathLst>
              </a:custGeom>
              <a:solidFill>
                <a:srgbClr val="E9EDED">
                  <a:alpha val="71765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0" y="-38100"/>
                <a:ext cx="812800" cy="10988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88372" y="0"/>
              <a:ext cx="1350079" cy="1350074"/>
              <a:chOff x="0" y="0"/>
              <a:chExt cx="6350000" cy="6349975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5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-17660" r="-12720" b="-29195"/>
                </a:stretch>
              </a:blipFill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06725" y="2166963"/>
              <a:ext cx="1313372" cy="34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38"/>
                </a:lnSpc>
                <a:spcBef>
                  <a:spcPct val="0"/>
                </a:spcBef>
              </a:pPr>
              <a:r>
                <a:rPr lang="en-US" sz="742" u="none" strike="noStrik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M.Com, FCA</a:t>
              </a:r>
            </a:p>
            <a:p>
              <a:pPr marL="0" lvl="0" indent="0" algn="ctr">
                <a:lnSpc>
                  <a:spcPts val="1038"/>
                </a:lnSpc>
                <a:spcBef>
                  <a:spcPct val="0"/>
                </a:spcBef>
              </a:pPr>
              <a:r>
                <a:rPr lang="en-US" sz="742" u="none" strike="noStrik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IA &amp; Consulting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8598" y="1495485"/>
              <a:ext cx="1409628" cy="4387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350"/>
                </a:lnSpc>
                <a:spcBef>
                  <a:spcPct val="0"/>
                </a:spcBef>
              </a:pPr>
              <a:r>
                <a:rPr lang="en-US" sz="964" spc="48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MILIN</a:t>
              </a:r>
              <a:r>
                <a:rPr lang="en-US" sz="964" u="none" spc="48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 PAREKH</a:t>
              </a:r>
            </a:p>
          </p:txBody>
        </p:sp>
        <p:sp>
          <p:nvSpPr>
            <p:cNvPr id="102" name="AutoShape 102"/>
            <p:cNvSpPr/>
            <p:nvPr/>
          </p:nvSpPr>
          <p:spPr>
            <a:xfrm flipH="1">
              <a:off x="616164" y="2071513"/>
              <a:ext cx="294496" cy="0"/>
            </a:xfrm>
            <a:prstGeom prst="line">
              <a:avLst/>
            </a:prstGeom>
            <a:ln w="13704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03" name="Group 103"/>
          <p:cNvGrpSpPr/>
          <p:nvPr/>
        </p:nvGrpSpPr>
        <p:grpSpPr>
          <a:xfrm>
            <a:off x="3736400" y="8470039"/>
            <a:ext cx="1145117" cy="1494438"/>
            <a:chOff x="0" y="0"/>
            <a:chExt cx="812800" cy="106074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27407" tIns="27407" rIns="27407" bIns="27407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3802679" y="7923576"/>
            <a:ext cx="1012559" cy="1012555"/>
            <a:chOff x="0" y="0"/>
            <a:chExt cx="6350000" cy="6349975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7"/>
              <a:stretch>
                <a:fillRect l="-8792" r="-11723" b="-20515"/>
              </a:stretch>
            </a:blipFill>
          </p:spPr>
        </p:sp>
      </p:grpSp>
      <p:sp>
        <p:nvSpPr>
          <p:cNvPr id="108" name="TextBox 108"/>
          <p:cNvSpPr txBox="1"/>
          <p:nvPr/>
        </p:nvSpPr>
        <p:spPr>
          <a:xfrm>
            <a:off x="3736400" y="9544036"/>
            <a:ext cx="1145117" cy="39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 strike="noStrike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</a:t>
            </a:r>
            <a:r>
              <a:rPr lang="en-US" sz="742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, ACA</a:t>
            </a:r>
          </a:p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IA &amp; Risk Advisory, Insurance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765001" y="9040427"/>
            <a:ext cx="1087916" cy="33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DHAVAL</a:t>
            </a:r>
            <a:r>
              <a:rPr lang="en-US" sz="964" u="none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THAKKAR</a:t>
            </a:r>
          </a:p>
        </p:txBody>
      </p:sp>
      <p:sp>
        <p:nvSpPr>
          <p:cNvPr id="110" name="AutoShape 110"/>
          <p:cNvSpPr/>
          <p:nvPr/>
        </p:nvSpPr>
        <p:spPr>
          <a:xfrm flipH="1">
            <a:off x="4198523" y="9477210"/>
            <a:ext cx="2208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1" name="Group 111"/>
          <p:cNvGrpSpPr/>
          <p:nvPr/>
        </p:nvGrpSpPr>
        <p:grpSpPr>
          <a:xfrm>
            <a:off x="6834928" y="8468993"/>
            <a:ext cx="1145117" cy="1494438"/>
            <a:chOff x="0" y="0"/>
            <a:chExt cx="812800" cy="1060746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6901207" y="7922529"/>
            <a:ext cx="1012559" cy="1012555"/>
            <a:chOff x="0" y="0"/>
            <a:chExt cx="6350000" cy="6349975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8"/>
              <a:stretch>
                <a:fillRect l="-10908" t="-3144" r="-17742" b="-19503"/>
              </a:stretch>
            </a:blipFill>
          </p:spPr>
        </p:sp>
      </p:grpSp>
      <p:sp>
        <p:nvSpPr>
          <p:cNvPr id="116" name="AutoShape 116"/>
          <p:cNvSpPr/>
          <p:nvPr/>
        </p:nvSpPr>
        <p:spPr>
          <a:xfrm flipH="1">
            <a:off x="7297051" y="9476164"/>
            <a:ext cx="2208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7" name="Group 117"/>
          <p:cNvGrpSpPr/>
          <p:nvPr/>
        </p:nvGrpSpPr>
        <p:grpSpPr>
          <a:xfrm>
            <a:off x="9958684" y="8442131"/>
            <a:ext cx="1145117" cy="1494438"/>
            <a:chOff x="0" y="0"/>
            <a:chExt cx="812800" cy="1060746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0024963" y="7895667"/>
            <a:ext cx="1012559" cy="1012555"/>
            <a:chOff x="0" y="0"/>
            <a:chExt cx="6350000" cy="6349975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9"/>
              <a:stretch>
                <a:fillRect l="-35559" t="-20237" r="-38156" b="-10049"/>
              </a:stretch>
            </a:blipFill>
          </p:spPr>
        </p:sp>
      </p:grpSp>
      <p:sp>
        <p:nvSpPr>
          <p:cNvPr id="122" name="AutoShape 122"/>
          <p:cNvSpPr/>
          <p:nvPr/>
        </p:nvSpPr>
        <p:spPr>
          <a:xfrm flipH="1">
            <a:off x="10420807" y="9452755"/>
            <a:ext cx="2208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3" name="Group 123"/>
          <p:cNvGrpSpPr/>
          <p:nvPr/>
        </p:nvGrpSpPr>
        <p:grpSpPr>
          <a:xfrm>
            <a:off x="5284066" y="8466287"/>
            <a:ext cx="1145117" cy="1494438"/>
            <a:chOff x="0" y="0"/>
            <a:chExt cx="812800" cy="1060746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5350345" y="7919824"/>
            <a:ext cx="1012559" cy="1012555"/>
            <a:chOff x="0" y="0"/>
            <a:chExt cx="6350000" cy="6349975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0"/>
              <a:stretch>
                <a:fillRect l="-48957" t="-18063" r="-47272" b="-29108"/>
              </a:stretch>
            </a:blipFill>
          </p:spPr>
        </p:sp>
      </p:grpSp>
      <p:sp>
        <p:nvSpPr>
          <p:cNvPr id="128" name="AutoShape 128"/>
          <p:cNvSpPr/>
          <p:nvPr/>
        </p:nvSpPr>
        <p:spPr>
          <a:xfrm flipH="1">
            <a:off x="5716861" y="9473459"/>
            <a:ext cx="2208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9" name="Group 129"/>
          <p:cNvGrpSpPr/>
          <p:nvPr/>
        </p:nvGrpSpPr>
        <p:grpSpPr>
          <a:xfrm>
            <a:off x="13028860" y="8437621"/>
            <a:ext cx="1112941" cy="1494438"/>
            <a:chOff x="0" y="0"/>
            <a:chExt cx="789961" cy="1060746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789961" cy="1060746"/>
            </a:xfrm>
            <a:custGeom>
              <a:avLst/>
              <a:gdLst/>
              <a:ahLst/>
              <a:cxnLst/>
              <a:rect l="l" t="t" r="r" b="b"/>
              <a:pathLst>
                <a:path w="789961" h="1060746">
                  <a:moveTo>
                    <a:pt x="0" y="0"/>
                  </a:moveTo>
                  <a:lnTo>
                    <a:pt x="789961" y="0"/>
                  </a:lnTo>
                  <a:lnTo>
                    <a:pt x="789961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0" y="-38100"/>
              <a:ext cx="789961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13129241" y="7891158"/>
            <a:ext cx="1012559" cy="1012555"/>
            <a:chOff x="0" y="0"/>
            <a:chExt cx="6350000" cy="6349975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1"/>
              <a:stretch>
                <a:fillRect l="-55731" t="-25576" r="-48105" b="-27302"/>
              </a:stretch>
            </a:blipFill>
          </p:spPr>
        </p:sp>
      </p:grpSp>
      <p:sp>
        <p:nvSpPr>
          <p:cNvPr id="134" name="AutoShape 134"/>
          <p:cNvSpPr/>
          <p:nvPr/>
        </p:nvSpPr>
        <p:spPr>
          <a:xfrm flipH="1">
            <a:off x="13525085" y="9447047"/>
            <a:ext cx="2208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5" name="Group 135"/>
          <p:cNvGrpSpPr/>
          <p:nvPr/>
        </p:nvGrpSpPr>
        <p:grpSpPr>
          <a:xfrm>
            <a:off x="11486681" y="8437621"/>
            <a:ext cx="1145117" cy="1494438"/>
            <a:chOff x="0" y="0"/>
            <a:chExt cx="812800" cy="1060746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11552605" y="7893413"/>
            <a:ext cx="1012559" cy="1012555"/>
            <a:chOff x="0" y="0"/>
            <a:chExt cx="6350000" cy="6349975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2"/>
              <a:stretch>
                <a:fillRect l="-116" r="-116"/>
              </a:stretch>
            </a:blipFill>
          </p:spPr>
        </p:sp>
      </p:grpSp>
      <p:sp>
        <p:nvSpPr>
          <p:cNvPr id="140" name="AutoShape 140"/>
          <p:cNvSpPr/>
          <p:nvPr/>
        </p:nvSpPr>
        <p:spPr>
          <a:xfrm flipH="1">
            <a:off x="11948804" y="9447047"/>
            <a:ext cx="2208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1" name="Group 141"/>
          <p:cNvGrpSpPr/>
          <p:nvPr/>
        </p:nvGrpSpPr>
        <p:grpSpPr>
          <a:xfrm>
            <a:off x="10298068" y="1940470"/>
            <a:ext cx="1134092" cy="1480049"/>
            <a:chOff x="0" y="0"/>
            <a:chExt cx="812800" cy="1060746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10363708" y="1399268"/>
            <a:ext cx="1002810" cy="1002806"/>
            <a:chOff x="0" y="0"/>
            <a:chExt cx="6350000" cy="6349975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3"/>
              <a:stretch>
                <a:fillRect l="-55500" t="-26216" r="-57603" b="-33612"/>
              </a:stretch>
            </a:blipFill>
          </p:spPr>
        </p:sp>
      </p:grpSp>
      <p:sp>
        <p:nvSpPr>
          <p:cNvPr id="146" name="AutoShape 146"/>
          <p:cNvSpPr/>
          <p:nvPr/>
        </p:nvSpPr>
        <p:spPr>
          <a:xfrm flipH="1">
            <a:off x="10708589" y="2937944"/>
            <a:ext cx="21874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7" name="Group 147"/>
          <p:cNvGrpSpPr/>
          <p:nvPr/>
        </p:nvGrpSpPr>
        <p:grpSpPr>
          <a:xfrm>
            <a:off x="12365609" y="1940470"/>
            <a:ext cx="1134092" cy="1480049"/>
            <a:chOff x="0" y="0"/>
            <a:chExt cx="812800" cy="1060746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12431250" y="1399268"/>
            <a:ext cx="1002810" cy="1002806"/>
            <a:chOff x="0" y="0"/>
            <a:chExt cx="6350000" cy="6349975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4"/>
              <a:stretch>
                <a:fillRect l="-51632" t="-22248" r="-54907" b="-32656"/>
              </a:stretch>
            </a:blipFill>
          </p:spPr>
        </p:sp>
      </p:grpSp>
      <p:sp>
        <p:nvSpPr>
          <p:cNvPr id="152" name="AutoShape 152"/>
          <p:cNvSpPr/>
          <p:nvPr/>
        </p:nvSpPr>
        <p:spPr>
          <a:xfrm flipH="1">
            <a:off x="12813758" y="2937944"/>
            <a:ext cx="21874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3" name="Group 153"/>
          <p:cNvGrpSpPr/>
          <p:nvPr/>
        </p:nvGrpSpPr>
        <p:grpSpPr>
          <a:xfrm>
            <a:off x="14347426" y="1940470"/>
            <a:ext cx="1134092" cy="1480049"/>
            <a:chOff x="0" y="0"/>
            <a:chExt cx="812800" cy="1060746"/>
          </a:xfrm>
        </p:grpSpPr>
        <p:sp>
          <p:nvSpPr>
            <p:cNvPr id="154" name="Freeform 154"/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6" name="Group 156"/>
          <p:cNvGrpSpPr/>
          <p:nvPr/>
        </p:nvGrpSpPr>
        <p:grpSpPr>
          <a:xfrm>
            <a:off x="14413067" y="1399268"/>
            <a:ext cx="1002810" cy="1002806"/>
            <a:chOff x="0" y="0"/>
            <a:chExt cx="6350000" cy="6349975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5"/>
              <a:stretch>
                <a:fillRect l="-3246" r="-3246"/>
              </a:stretch>
            </a:blipFill>
          </p:spPr>
        </p:sp>
      </p:grpSp>
      <p:sp>
        <p:nvSpPr>
          <p:cNvPr id="158" name="AutoShape 158"/>
          <p:cNvSpPr/>
          <p:nvPr/>
        </p:nvSpPr>
        <p:spPr>
          <a:xfrm flipH="1">
            <a:off x="14794680" y="2937944"/>
            <a:ext cx="21874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0" name="TextBox 160"/>
          <p:cNvSpPr txBox="1"/>
          <p:nvPr/>
        </p:nvSpPr>
        <p:spPr>
          <a:xfrm>
            <a:off x="2532585" y="3003942"/>
            <a:ext cx="1123444" cy="398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1"/>
              </a:lnSpc>
              <a:spcBef>
                <a:spcPct val="0"/>
              </a:spcBef>
            </a:pPr>
            <a:r>
              <a:rPr lang="en-US" sz="758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B.Com, ACA</a:t>
            </a:r>
          </a:p>
          <a:p>
            <a:pPr marL="0" lvl="0" indent="0" algn="ctr">
              <a:lnSpc>
                <a:spcPts val="1061"/>
              </a:lnSpc>
              <a:spcBef>
                <a:spcPct val="0"/>
              </a:spcBef>
            </a:pPr>
            <a:r>
              <a:rPr lang="en-US" sz="758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IA &amp; Risk Advisory, Insurance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2550262" y="2505183"/>
            <a:ext cx="1077442" cy="33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r>
              <a:rPr lang="en-US" sz="955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JA</a:t>
            </a:r>
            <a:r>
              <a:rPr lang="en-US" sz="955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MAL CHATRIWALA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693821" y="3003942"/>
            <a:ext cx="988091" cy="26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1"/>
              </a:lnSpc>
              <a:spcBef>
                <a:spcPct val="0"/>
              </a:spcBef>
            </a:pPr>
            <a:r>
              <a:rPr lang="en-US" sz="758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FCA | IND AS &amp; IFRS | Statutory Audit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717690" y="2505565"/>
            <a:ext cx="971582" cy="33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r>
              <a:rPr lang="en-US" sz="955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TASNIM TAN</a:t>
            </a:r>
            <a:r>
              <a:rPr lang="en-US" sz="955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KIWALA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4421401" y="2998853"/>
            <a:ext cx="1115370" cy="398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1"/>
              </a:lnSpc>
              <a:spcBef>
                <a:spcPct val="0"/>
              </a:spcBef>
            </a:pPr>
            <a:r>
              <a:rPr lang="en-US" sz="75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</a:t>
            </a:r>
            <a:r>
              <a:rPr lang="en-US" sz="758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Com, FCA, CISA, ACCA | Assurance &amp; Tech | SOC Audit Expert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4419371" y="2505183"/>
            <a:ext cx="1136121" cy="498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r>
              <a:rPr lang="en-US" sz="955" spc="-3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TAHER</a:t>
            </a:r>
            <a:r>
              <a:rPr lang="en-US" sz="955" u="none" spc="-3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PEPERMINTWALA</a:t>
            </a:r>
          </a:p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endParaRPr lang="en-US" sz="955" u="none" spc="-36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66" name="TextBox 166"/>
          <p:cNvSpPr txBox="1"/>
          <p:nvPr/>
        </p:nvSpPr>
        <p:spPr>
          <a:xfrm>
            <a:off x="8353317" y="2986159"/>
            <a:ext cx="988091" cy="388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8"/>
              </a:lnSpc>
              <a:spcBef>
                <a:spcPct val="0"/>
              </a:spcBef>
            </a:pPr>
            <a:r>
              <a:rPr lang="en-US" sz="73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</a:t>
            </a:r>
            <a:r>
              <a:rPr lang="en-US" sz="734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Com, ACA</a:t>
            </a:r>
          </a:p>
          <a:p>
            <a:pPr marL="0" lvl="0" indent="0" algn="ctr">
              <a:lnSpc>
                <a:spcPts val="1028"/>
              </a:lnSpc>
              <a:spcBef>
                <a:spcPct val="0"/>
              </a:spcBef>
            </a:pPr>
            <a:r>
              <a:rPr lang="en-US" sz="734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Risk Advisory, IA, IFC &amp; IPO Certification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8378456" y="2487400"/>
            <a:ext cx="971582" cy="33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r>
              <a:rPr lang="en-US" sz="955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SAHIL</a:t>
            </a:r>
            <a:r>
              <a:rPr lang="en-US" sz="955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r>
              <a:rPr lang="en-US" sz="955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SHAH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6414518" y="3003942"/>
            <a:ext cx="975545" cy="398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1"/>
              </a:lnSpc>
              <a:spcBef>
                <a:spcPct val="0"/>
              </a:spcBef>
            </a:pPr>
            <a:r>
              <a:rPr lang="en-US" sz="75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M.COM, FCA, </a:t>
            </a:r>
            <a:r>
              <a:rPr lang="en-US" sz="758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  <a:p>
            <a:pPr marL="0" lvl="0" indent="0" algn="ctr">
              <a:lnSpc>
                <a:spcPts val="1061"/>
              </a:lnSpc>
              <a:spcBef>
                <a:spcPct val="0"/>
              </a:spcBef>
            </a:pPr>
            <a:r>
              <a:rPr lang="en-US" sz="758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SET &amp; CMA</a:t>
            </a:r>
          </a:p>
          <a:p>
            <a:pPr marL="0" lvl="0" indent="0" algn="ctr">
              <a:lnSpc>
                <a:spcPts val="1061"/>
              </a:lnSpc>
              <a:spcBef>
                <a:spcPct val="0"/>
              </a:spcBef>
            </a:pPr>
            <a:endParaRPr lang="en-US" sz="758" u="none" strike="noStrike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69" name="TextBox 169"/>
          <p:cNvSpPr txBox="1"/>
          <p:nvPr/>
        </p:nvSpPr>
        <p:spPr>
          <a:xfrm>
            <a:off x="6378770" y="2505183"/>
            <a:ext cx="1047042" cy="33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r>
              <a:rPr lang="en-US" sz="955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DHANLAXMI</a:t>
            </a:r>
            <a:r>
              <a:rPr lang="en-US" sz="955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NAIR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1018720" y="439995"/>
            <a:ext cx="5061111" cy="49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 dirty="0">
                <a:solidFill>
                  <a:srgbClr val="1B365D"/>
                </a:solidFill>
                <a:latin typeface="Archivo Black"/>
                <a:ea typeface="Archivo Black"/>
                <a:cs typeface="Archivo Black"/>
                <a:sym typeface="Archivo Black"/>
              </a:rPr>
              <a:t>M</a:t>
            </a:r>
            <a:r>
              <a:rPr lang="en-US" sz="3600" u="none" strike="noStrike" dirty="0">
                <a:solidFill>
                  <a:srgbClr val="1B365D"/>
                </a:solidFill>
                <a:latin typeface="Archivo Black"/>
                <a:ea typeface="Archivo Black"/>
                <a:cs typeface="Archivo Black"/>
                <a:sym typeface="Archivo Black"/>
              </a:rPr>
              <a:t>UMBAI PARTNERS 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3117652" y="6306505"/>
            <a:ext cx="1149548" cy="246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31"/>
              </a:lnSpc>
              <a:spcBef>
                <a:spcPct val="0"/>
              </a:spcBef>
            </a:pPr>
            <a:r>
              <a:rPr lang="en-US" sz="736" u="none" strike="noStrike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</a:t>
            </a:r>
            <a:r>
              <a:rPr lang="en-US" sz="736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, FCA | IA &amp; Risk Advisory, FMCG &amp; Retail 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3137226" y="5809663"/>
            <a:ext cx="1079972" cy="33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0"/>
              </a:lnSpc>
              <a:spcBef>
                <a:spcPct val="0"/>
              </a:spcBef>
            </a:pPr>
            <a:r>
              <a:rPr lang="en-US" sz="957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NARAYANA RAO</a:t>
            </a:r>
            <a:r>
              <a:rPr lang="en-US" sz="957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MALLA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693992" y="6384853"/>
            <a:ext cx="990411" cy="259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1"/>
              </a:lnSpc>
              <a:spcBef>
                <a:spcPct val="0"/>
              </a:spcBef>
            </a:pPr>
            <a:r>
              <a:rPr lang="en-US" sz="7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</a:t>
            </a:r>
            <a:r>
              <a:rPr lang="en-US" sz="736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 (Hons), FCA, Direct &amp; Indirect Tax, 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702266" y="5884922"/>
            <a:ext cx="973863" cy="33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0"/>
              </a:lnSpc>
              <a:spcBef>
                <a:spcPct val="0"/>
              </a:spcBef>
            </a:pPr>
            <a:r>
              <a:rPr lang="en-US" sz="957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JAGDISH</a:t>
            </a:r>
            <a:r>
              <a:rPr lang="en-US" sz="957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SOLANKI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5567182" y="6286558"/>
            <a:ext cx="977836" cy="259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1"/>
              </a:lnSpc>
              <a:spcBef>
                <a:spcPct val="0"/>
              </a:spcBef>
            </a:pPr>
            <a:r>
              <a:rPr lang="en-US" sz="736" u="none" strike="noStrike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</a:t>
            </a:r>
            <a:r>
              <a:rPr lang="en-US" sz="736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, FCA </a:t>
            </a:r>
          </a:p>
          <a:p>
            <a:pPr marL="0" lvl="0" indent="0" algn="ctr">
              <a:lnSpc>
                <a:spcPts val="1031"/>
              </a:lnSpc>
              <a:spcBef>
                <a:spcPct val="0"/>
              </a:spcBef>
            </a:pPr>
            <a:r>
              <a:rPr lang="en-US" sz="736" u="none" strike="noStrike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Specialising</a:t>
            </a:r>
            <a:r>
              <a:rPr lang="en-US" sz="736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in GST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5531349" y="5784434"/>
            <a:ext cx="1049501" cy="16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0"/>
              </a:lnSpc>
              <a:spcBef>
                <a:spcPct val="0"/>
              </a:spcBef>
            </a:pPr>
            <a:r>
              <a:rPr lang="en-US" sz="957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PRANAL</a:t>
            </a:r>
            <a:r>
              <a:rPr lang="en-US" sz="957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P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12251159" y="6285767"/>
            <a:ext cx="977836" cy="24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1"/>
              </a:lnSpc>
              <a:spcBef>
                <a:spcPct val="0"/>
              </a:spcBef>
            </a:pPr>
            <a:r>
              <a:rPr lang="en-US" sz="736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CA, CMA &amp; Indirect Tax &amp; Advisory 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12196488" y="5773673"/>
            <a:ext cx="1049501" cy="15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0"/>
              </a:lnSpc>
              <a:spcBef>
                <a:spcPct val="0"/>
              </a:spcBef>
            </a:pPr>
            <a:r>
              <a:rPr lang="en-US" sz="957" u="none" spc="47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NM PRADEEP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2277338" y="9550354"/>
            <a:ext cx="1004031" cy="26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B.Com, FCA, DISA | Direct &amp; Indirect Tax 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2235395" y="9046745"/>
            <a:ext cx="1087916" cy="33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spc="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SAURABH</a:t>
            </a:r>
            <a:r>
              <a:rPr lang="en-US" sz="964" u="none" spc="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SHAH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694530" y="9552783"/>
            <a:ext cx="997697" cy="26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</a:t>
            </a:r>
            <a:r>
              <a:rPr lang="en-US" sz="742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 (Hons), FCA | IA &amp; Assurance 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702865" y="9049174"/>
            <a:ext cx="981027" cy="33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VIRENDRA</a:t>
            </a:r>
            <a:r>
              <a:rPr lang="en-US" sz="964" u="none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NAYYAR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6908639" y="9542989"/>
            <a:ext cx="997697" cy="26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</a:t>
            </a:r>
            <a:r>
              <a:rPr lang="en-US" sz="742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Com, ACA</a:t>
            </a:r>
          </a:p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Indirect Tax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6916973" y="9039380"/>
            <a:ext cx="981027" cy="33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SHREENA</a:t>
            </a:r>
            <a:r>
              <a:rPr lang="en-US" sz="964" u="none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PANARA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10038728" y="9519580"/>
            <a:ext cx="985029" cy="26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B.Com, FCA</a:t>
            </a:r>
          </a:p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Income Tax &amp; GST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10002632" y="9015971"/>
            <a:ext cx="1057221" cy="33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964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MEHUL</a:t>
            </a:r>
          </a:p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u="none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SHAH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5364111" y="9540284"/>
            <a:ext cx="985029" cy="25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B.Com, FCA</a:t>
            </a:r>
          </a:p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Income Tax &amp; GST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5328015" y="9036675"/>
            <a:ext cx="1057221" cy="33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VIRANCH</a:t>
            </a:r>
            <a:r>
              <a:rPr lang="en-US" sz="964" u="none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MODI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13133505" y="9511618"/>
            <a:ext cx="1004031" cy="39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 strike="noStrike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</a:t>
            </a:r>
            <a:r>
              <a:rPr lang="en-US" sz="742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, ACA</a:t>
            </a:r>
          </a:p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Tax Litigation &amp; Advisory</a:t>
            </a:r>
          </a:p>
        </p:txBody>
      </p:sp>
      <p:sp>
        <p:nvSpPr>
          <p:cNvPr id="199" name="TextBox 199"/>
          <p:cNvSpPr txBox="1"/>
          <p:nvPr/>
        </p:nvSpPr>
        <p:spPr>
          <a:xfrm>
            <a:off x="13091562" y="9008009"/>
            <a:ext cx="1087916" cy="33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RAJ</a:t>
            </a:r>
            <a:r>
              <a:rPr lang="en-US" sz="964" u="none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u="none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SHAH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11560391" y="9513873"/>
            <a:ext cx="997697" cy="26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</a:t>
            </a:r>
            <a:r>
              <a:rPr lang="en-US" sz="742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Com, ACA</a:t>
            </a:r>
          </a:p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IA &amp; Tax Consulting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11568726" y="9010264"/>
            <a:ext cx="981027" cy="33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AL</a:t>
            </a:r>
            <a:r>
              <a:rPr lang="en-US" sz="964" u="none" spc="4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PESH VANIYA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10367932" y="3003942"/>
            <a:ext cx="994364" cy="25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8"/>
              </a:lnSpc>
              <a:spcBef>
                <a:spcPct val="0"/>
              </a:spcBef>
            </a:pPr>
            <a:r>
              <a:rPr lang="en-US" sz="734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B.Com, ACA</a:t>
            </a:r>
          </a:p>
          <a:p>
            <a:pPr marL="0" lvl="0" indent="0" algn="ctr">
              <a:lnSpc>
                <a:spcPts val="1028"/>
              </a:lnSpc>
              <a:spcBef>
                <a:spcPct val="0"/>
              </a:spcBef>
            </a:pPr>
            <a:r>
              <a:rPr lang="en-US" sz="734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Assurance &amp; Tax  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10326393" y="2505183"/>
            <a:ext cx="1077442" cy="33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r>
              <a:rPr lang="en-US" sz="955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TAUSI</a:t>
            </a:r>
            <a:r>
              <a:rPr lang="en-US" sz="955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 SHAIKH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12444883" y="3003942"/>
            <a:ext cx="975545" cy="51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8"/>
              </a:lnSpc>
              <a:spcBef>
                <a:spcPct val="0"/>
              </a:spcBef>
            </a:pPr>
            <a:r>
              <a:rPr lang="en-US" sz="734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M.Com, CS, ACA</a:t>
            </a:r>
          </a:p>
          <a:p>
            <a:pPr marL="0" lvl="0" indent="0" algn="ctr">
              <a:lnSpc>
                <a:spcPts val="1028"/>
              </a:lnSpc>
              <a:spcBef>
                <a:spcPct val="0"/>
              </a:spcBef>
            </a:pPr>
            <a:r>
              <a:rPr lang="en-US" sz="734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Statutory &amp; Accounts Outsourcing</a:t>
            </a:r>
          </a:p>
          <a:p>
            <a:pPr marL="0" lvl="0" indent="0" algn="ctr">
              <a:lnSpc>
                <a:spcPts val="1028"/>
              </a:lnSpc>
              <a:spcBef>
                <a:spcPct val="0"/>
              </a:spcBef>
            </a:pPr>
            <a:endParaRPr lang="en-US" sz="734" u="none" strike="noStrike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05" name="TextBox 205"/>
          <p:cNvSpPr txBox="1"/>
          <p:nvPr/>
        </p:nvSpPr>
        <p:spPr>
          <a:xfrm>
            <a:off x="12409134" y="2505183"/>
            <a:ext cx="1047042" cy="33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r>
              <a:rPr lang="en-US" sz="955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SAMAD</a:t>
            </a:r>
            <a:r>
              <a:rPr lang="en-US" sz="955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DHANANI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14366476" y="3003942"/>
            <a:ext cx="1115042" cy="259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8"/>
              </a:lnSpc>
              <a:spcBef>
                <a:spcPct val="0"/>
              </a:spcBef>
            </a:pPr>
            <a:r>
              <a:rPr lang="en-US" sz="734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FCA,</a:t>
            </a:r>
          </a:p>
          <a:p>
            <a:pPr marL="0" lvl="0" indent="0" algn="ctr">
              <a:lnSpc>
                <a:spcPts val="1028"/>
              </a:lnSpc>
              <a:spcBef>
                <a:spcPct val="0"/>
              </a:spcBef>
            </a:pPr>
            <a:r>
              <a:rPr lang="en-US" sz="734" u="none" strike="noStrik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Risk Advisory, IA &amp; IFC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14390951" y="2505183"/>
            <a:ext cx="1047042" cy="49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r>
              <a:rPr lang="en-US" sz="955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DISHA</a:t>
            </a:r>
            <a:r>
              <a:rPr lang="en-US" sz="955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r>
              <a:rPr lang="en-US" sz="955" u="none" spc="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SHAH</a:t>
            </a:r>
          </a:p>
          <a:p>
            <a:pPr marL="0" lvl="0" indent="0" algn="ctr">
              <a:lnSpc>
                <a:spcPts val="1337"/>
              </a:lnSpc>
              <a:spcBef>
                <a:spcPct val="0"/>
              </a:spcBef>
            </a:pPr>
            <a:endParaRPr lang="en-US" sz="955" u="none" spc="47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08" name="TextBox 208"/>
          <p:cNvSpPr txBox="1"/>
          <p:nvPr/>
        </p:nvSpPr>
        <p:spPr>
          <a:xfrm>
            <a:off x="1018719" y="3944394"/>
            <a:ext cx="15466117" cy="474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 dirty="0">
                <a:solidFill>
                  <a:srgbClr val="CB1944"/>
                </a:solidFill>
                <a:latin typeface="Archivo Black"/>
                <a:ea typeface="Archivo Black"/>
                <a:cs typeface="Archivo Black"/>
                <a:sym typeface="Archivo Black"/>
              </a:rPr>
              <a:t>BENGALURU, CHENNAI,  DELHI &amp; HYDERABAD PARTNERS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078494" y="7268137"/>
            <a:ext cx="5954037" cy="491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 dirty="0">
                <a:solidFill>
                  <a:srgbClr val="1B365D"/>
                </a:solidFill>
                <a:latin typeface="Archivo Black"/>
                <a:ea typeface="Archivo Black"/>
                <a:cs typeface="Archivo Black"/>
                <a:sym typeface="Archivo Black"/>
              </a:rPr>
              <a:t>G</a:t>
            </a:r>
            <a:r>
              <a:rPr lang="en-US" sz="3600" u="none" strike="noStrike" dirty="0">
                <a:solidFill>
                  <a:srgbClr val="1B365D"/>
                </a:solidFill>
                <a:latin typeface="Archivo Black"/>
                <a:ea typeface="Archivo Black"/>
                <a:cs typeface="Archivo Black"/>
                <a:sym typeface="Archivo Black"/>
              </a:rPr>
              <a:t>UJARAT PARTNERS</a:t>
            </a:r>
          </a:p>
        </p:txBody>
      </p:sp>
      <p:sp>
        <p:nvSpPr>
          <p:cNvPr id="217" name="TextBox 37">
            <a:extLst>
              <a:ext uri="{FF2B5EF4-FFF2-40B4-BE49-F238E27FC236}">
                <a16:creationId xmlns:a16="http://schemas.microsoft.com/office/drawing/2014/main" id="{520C1C61-4D37-4BB5-9EA1-074EEF3A8344}"/>
              </a:ext>
            </a:extLst>
          </p:cNvPr>
          <p:cNvSpPr txBox="1"/>
          <p:nvPr/>
        </p:nvSpPr>
        <p:spPr>
          <a:xfrm>
            <a:off x="17587002" y="9968163"/>
            <a:ext cx="291444" cy="198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16</a:t>
            </a:r>
          </a:p>
        </p:txBody>
      </p:sp>
      <p:sp>
        <p:nvSpPr>
          <p:cNvPr id="185" name="Freeform 20">
            <a:extLst>
              <a:ext uri="{FF2B5EF4-FFF2-40B4-BE49-F238E27FC236}">
                <a16:creationId xmlns:a16="http://schemas.microsoft.com/office/drawing/2014/main" id="{3ED88ABF-ED77-48C0-BB66-CFD21C5F82D3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8" name="Group 64">
            <a:extLst>
              <a:ext uri="{FF2B5EF4-FFF2-40B4-BE49-F238E27FC236}">
                <a16:creationId xmlns:a16="http://schemas.microsoft.com/office/drawing/2014/main" id="{C9CD7E20-2791-4B1E-BE11-21B553A12FAF}"/>
              </a:ext>
            </a:extLst>
          </p:cNvPr>
          <p:cNvGrpSpPr/>
          <p:nvPr/>
        </p:nvGrpSpPr>
        <p:grpSpPr>
          <a:xfrm>
            <a:off x="10041143" y="5216630"/>
            <a:ext cx="1136755" cy="1483525"/>
            <a:chOff x="0" y="0"/>
            <a:chExt cx="812800" cy="1060746"/>
          </a:xfrm>
        </p:grpSpPr>
        <p:sp>
          <p:nvSpPr>
            <p:cNvPr id="219" name="Freeform 65">
              <a:extLst>
                <a:ext uri="{FF2B5EF4-FFF2-40B4-BE49-F238E27FC236}">
                  <a16:creationId xmlns:a16="http://schemas.microsoft.com/office/drawing/2014/main" id="{0396515A-7976-476B-B509-AB2DC1567B37}"/>
                </a:ext>
              </a:extLst>
            </p:cNvPr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20" name="TextBox 66">
              <a:extLst>
                <a:ext uri="{FF2B5EF4-FFF2-40B4-BE49-F238E27FC236}">
                  <a16:creationId xmlns:a16="http://schemas.microsoft.com/office/drawing/2014/main" id="{33D7159A-0E6A-46B4-A6EC-73396159D4D6}"/>
                </a:ext>
              </a:extLst>
            </p:cNvPr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1" name="Group 67">
            <a:extLst>
              <a:ext uri="{FF2B5EF4-FFF2-40B4-BE49-F238E27FC236}">
                <a16:creationId xmlns:a16="http://schemas.microsoft.com/office/drawing/2014/main" id="{A0AFA55C-6FF4-4A6C-949C-CBDF8D830371}"/>
              </a:ext>
            </a:extLst>
          </p:cNvPr>
          <p:cNvGrpSpPr/>
          <p:nvPr/>
        </p:nvGrpSpPr>
        <p:grpSpPr>
          <a:xfrm>
            <a:off x="10106938" y="4678015"/>
            <a:ext cx="1005165" cy="1005161"/>
            <a:chOff x="0" y="0"/>
            <a:chExt cx="6350000" cy="6349975"/>
          </a:xfrm>
        </p:grpSpPr>
        <p:sp>
          <p:nvSpPr>
            <p:cNvPr id="222" name="Freeform 68">
              <a:extLst>
                <a:ext uri="{FF2B5EF4-FFF2-40B4-BE49-F238E27FC236}">
                  <a16:creationId xmlns:a16="http://schemas.microsoft.com/office/drawing/2014/main" id="{ECA13177-98A9-4B6C-8AA7-DBFAD5C45F96}"/>
                </a:ext>
              </a:extLst>
            </p:cNvPr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7" cstate="print">
                <a:extLst>
                  <a:ext uri="{BEBA8EAE-BF5A-486C-A8C5-ECC9F3942E4B}">
                    <a14:imgProps xmlns:a14="http://schemas.microsoft.com/office/drawing/2010/main">
                      <a14:imgLayer r:embed="rId28">
                        <a14:imgEffect>
                          <a14:backgroundRemoval t="5176" b="98145" l="9981" r="91363">
                            <a14:foregroundMark x1="51056" y1="9180" x2="51056" y2="9180"/>
                            <a14:foregroundMark x1="53743" y1="7617" x2="53743" y2="7617"/>
                            <a14:foregroundMark x1="52783" y1="5273" x2="52783" y2="5273"/>
                            <a14:foregroundMark x1="39731" y1="82813" x2="39731" y2="82813"/>
                            <a14:foregroundMark x1="45393" y1="79980" x2="39251" y2="61328"/>
                            <a14:foregroundMark x1="39347" y1="69238" x2="36660" y2="70898"/>
                            <a14:foregroundMark x1="36660" y1="70605" x2="36660" y2="70605"/>
                            <a14:foregroundMark x1="36372" y1="70605" x2="36372" y2="70605"/>
                            <a14:foregroundMark x1="34069" y1="70313" x2="34069" y2="70313"/>
                            <a14:foregroundMark x1="23321" y1="74219" x2="28023" y2="85352"/>
                            <a14:foregroundMark x1="33685" y1="72070" x2="33685" y2="72070"/>
                            <a14:foregroundMark x1="31670" y1="76660" x2="31670" y2="76660"/>
                            <a14:foregroundMark x1="28695" y1="79980" x2="28695" y2="79980"/>
                            <a14:foregroundMark x1="28695" y1="79980" x2="28695" y2="79980"/>
                            <a14:foregroundMark x1="10653" y1="87793" x2="38580" y2="57715"/>
                            <a14:foregroundMark x1="36372" y1="70117" x2="28215" y2="88965"/>
                            <a14:foregroundMark x1="28215" y1="88965" x2="55182" y2="93066"/>
                            <a14:foregroundMark x1="54702" y1="66699" x2="81574" y2="84863"/>
                            <a14:foregroundMark x1="55662" y1="64453" x2="77255" y2="76953"/>
                            <a14:foregroundMark x1="62572" y1="54492" x2="85797" y2="79004"/>
                            <a14:foregroundMark x1="71113" y1="60156" x2="85317" y2="70898"/>
                            <a14:foregroundMark x1="87044" y1="67773" x2="87524" y2="76270"/>
                            <a14:foregroundMark x1="87908" y1="76660" x2="78215" y2="85742"/>
                            <a14:foregroundMark x1="90211" y1="78809" x2="89923" y2="77734"/>
                            <a14:foregroundMark x1="91075" y1="82813" x2="80614" y2="83691"/>
                            <a14:foregroundMark x1="87524" y1="78516" x2="54223" y2="94629"/>
                            <a14:foregroundMark x1="83973" y1="87012" x2="48081" y2="98242"/>
                            <a14:foregroundMark x1="88388" y1="72949" x2="91363" y2="79590"/>
                            <a14:foregroundMark x1="24793" y1="89256" x2="24793" y2="89256"/>
                            <a14:foregroundMark x1="23140" y1="89669" x2="22314" y2="88843"/>
                            <a14:foregroundMark x1="26033" y1="93802" x2="26033" y2="93802"/>
                            <a14:foregroundMark x1="32231" y1="93388" x2="32231" y2="93388"/>
                            <a14:backgroundMark x1="26488" y1="31738" x2="26488" y2="31738"/>
                            <a14:backgroundMark x1="73321" y1="27344" x2="73321" y2="27344"/>
                            <a14:backgroundMark x1="75048" y1="55273" x2="75048" y2="55273"/>
                            <a14:backgroundMark x1="72265" y1="55566" x2="72265" y2="55566"/>
                            <a14:backgroundMark x1="31190" y1="56445" x2="31190" y2="5644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23" name="AutoShape 69">
            <a:extLst>
              <a:ext uri="{FF2B5EF4-FFF2-40B4-BE49-F238E27FC236}">
                <a16:creationId xmlns:a16="http://schemas.microsoft.com/office/drawing/2014/main" id="{35E7FAC5-3159-4CF8-8EC3-04612BCE55D2}"/>
              </a:ext>
            </a:extLst>
          </p:cNvPr>
          <p:cNvSpPr/>
          <p:nvPr/>
        </p:nvSpPr>
        <p:spPr>
          <a:xfrm flipH="1">
            <a:off x="10499891" y="6216446"/>
            <a:ext cx="21925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4" name="Group 76">
            <a:extLst>
              <a:ext uri="{FF2B5EF4-FFF2-40B4-BE49-F238E27FC236}">
                <a16:creationId xmlns:a16="http://schemas.microsoft.com/office/drawing/2014/main" id="{EB587EE1-DF38-46C6-9F50-50CCC5A1E2B2}"/>
              </a:ext>
            </a:extLst>
          </p:cNvPr>
          <p:cNvGrpSpPr/>
          <p:nvPr/>
        </p:nvGrpSpPr>
        <p:grpSpPr>
          <a:xfrm>
            <a:off x="7728823" y="5242597"/>
            <a:ext cx="1136755" cy="1483525"/>
            <a:chOff x="0" y="0"/>
            <a:chExt cx="812800" cy="1060746"/>
          </a:xfrm>
        </p:grpSpPr>
        <p:sp>
          <p:nvSpPr>
            <p:cNvPr id="225" name="Freeform 77">
              <a:extLst>
                <a:ext uri="{FF2B5EF4-FFF2-40B4-BE49-F238E27FC236}">
                  <a16:creationId xmlns:a16="http://schemas.microsoft.com/office/drawing/2014/main" id="{552685D4-EE31-4B3A-B758-9C943BDBE075}"/>
                </a:ext>
              </a:extLst>
            </p:cNvPr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26" name="TextBox 78">
              <a:extLst>
                <a:ext uri="{FF2B5EF4-FFF2-40B4-BE49-F238E27FC236}">
                  <a16:creationId xmlns:a16="http://schemas.microsoft.com/office/drawing/2014/main" id="{E3A69B2F-FF02-443D-AF48-93CFBAAFEF45}"/>
                </a:ext>
              </a:extLst>
            </p:cNvPr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7" name="Group 79">
            <a:extLst>
              <a:ext uri="{FF2B5EF4-FFF2-40B4-BE49-F238E27FC236}">
                <a16:creationId xmlns:a16="http://schemas.microsoft.com/office/drawing/2014/main" id="{A3367CA2-58D3-4C1C-BD02-DD0BA5AE10C8}"/>
              </a:ext>
            </a:extLst>
          </p:cNvPr>
          <p:cNvGrpSpPr/>
          <p:nvPr/>
        </p:nvGrpSpPr>
        <p:grpSpPr>
          <a:xfrm>
            <a:off x="7794618" y="4701071"/>
            <a:ext cx="1005165" cy="1005161"/>
            <a:chOff x="0" y="0"/>
            <a:chExt cx="6350000" cy="6349975"/>
          </a:xfrm>
        </p:grpSpPr>
        <p:sp>
          <p:nvSpPr>
            <p:cNvPr id="228" name="Freeform 80">
              <a:extLst>
                <a:ext uri="{FF2B5EF4-FFF2-40B4-BE49-F238E27FC236}">
                  <a16:creationId xmlns:a16="http://schemas.microsoft.com/office/drawing/2014/main" id="{AF799C02-F0A8-4619-8F50-991432EE4398}"/>
                </a:ext>
              </a:extLst>
            </p:cNvPr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9"/>
              <a:stretch>
                <a:fillRect l="-7293" t="-9951" r="-17504" b="-4051"/>
              </a:stretch>
            </a:blipFill>
          </p:spPr>
        </p:sp>
      </p:grpSp>
      <p:sp>
        <p:nvSpPr>
          <p:cNvPr id="229" name="AutoShape 81">
            <a:extLst>
              <a:ext uri="{FF2B5EF4-FFF2-40B4-BE49-F238E27FC236}">
                <a16:creationId xmlns:a16="http://schemas.microsoft.com/office/drawing/2014/main" id="{ED7B5120-9224-4021-9738-CD673FD4D249}"/>
              </a:ext>
            </a:extLst>
          </p:cNvPr>
          <p:cNvSpPr/>
          <p:nvPr/>
        </p:nvSpPr>
        <p:spPr>
          <a:xfrm flipH="1">
            <a:off x="8187571" y="6248841"/>
            <a:ext cx="21925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0" name="TextBox 182">
            <a:extLst>
              <a:ext uri="{FF2B5EF4-FFF2-40B4-BE49-F238E27FC236}">
                <a16:creationId xmlns:a16="http://schemas.microsoft.com/office/drawing/2014/main" id="{62525E12-E81A-429D-8C1B-570090116AE5}"/>
              </a:ext>
            </a:extLst>
          </p:cNvPr>
          <p:cNvSpPr txBox="1"/>
          <p:nvPr/>
        </p:nvSpPr>
        <p:spPr>
          <a:xfrm>
            <a:off x="10120603" y="6286558"/>
            <a:ext cx="977836" cy="24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1"/>
              </a:lnSpc>
              <a:spcBef>
                <a:spcPct val="0"/>
              </a:spcBef>
            </a:pPr>
            <a:r>
              <a:rPr lang="en-US" sz="736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CA, Taxation &amp; Audit Specialist</a:t>
            </a:r>
          </a:p>
        </p:txBody>
      </p:sp>
      <p:sp>
        <p:nvSpPr>
          <p:cNvPr id="231" name="TextBox 183">
            <a:extLst>
              <a:ext uri="{FF2B5EF4-FFF2-40B4-BE49-F238E27FC236}">
                <a16:creationId xmlns:a16="http://schemas.microsoft.com/office/drawing/2014/main" id="{247411DF-9D95-49C0-84DB-ADFDEFDE5274}"/>
              </a:ext>
            </a:extLst>
          </p:cNvPr>
          <p:cNvSpPr txBox="1"/>
          <p:nvPr/>
        </p:nvSpPr>
        <p:spPr>
          <a:xfrm>
            <a:off x="10084770" y="5782713"/>
            <a:ext cx="1049501" cy="32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0"/>
              </a:lnSpc>
              <a:spcBef>
                <a:spcPct val="0"/>
              </a:spcBef>
            </a:pPr>
            <a:r>
              <a:rPr lang="en-US" sz="957" u="none" spc="47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GEETHIKA GHANTA</a:t>
            </a:r>
          </a:p>
        </p:txBody>
      </p:sp>
      <p:sp>
        <p:nvSpPr>
          <p:cNvPr id="232" name="TextBox 186">
            <a:extLst>
              <a:ext uri="{FF2B5EF4-FFF2-40B4-BE49-F238E27FC236}">
                <a16:creationId xmlns:a16="http://schemas.microsoft.com/office/drawing/2014/main" id="{0DD74E15-2B5C-4DE3-A6D2-DEA89CAFF485}"/>
              </a:ext>
            </a:extLst>
          </p:cNvPr>
          <p:cNvSpPr txBox="1"/>
          <p:nvPr/>
        </p:nvSpPr>
        <p:spPr>
          <a:xfrm>
            <a:off x="7808282" y="6310277"/>
            <a:ext cx="977836" cy="13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1"/>
              </a:lnSpc>
              <a:spcBef>
                <a:spcPct val="0"/>
              </a:spcBef>
            </a:pPr>
            <a:r>
              <a:rPr lang="en-US" sz="736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BA, DSM, FCA, DISA</a:t>
            </a:r>
          </a:p>
        </p:txBody>
      </p:sp>
      <p:sp>
        <p:nvSpPr>
          <p:cNvPr id="233" name="TextBox 187">
            <a:extLst>
              <a:ext uri="{FF2B5EF4-FFF2-40B4-BE49-F238E27FC236}">
                <a16:creationId xmlns:a16="http://schemas.microsoft.com/office/drawing/2014/main" id="{746B2289-CE31-4318-AEC1-1E38DD3D57C2}"/>
              </a:ext>
            </a:extLst>
          </p:cNvPr>
          <p:cNvSpPr txBox="1"/>
          <p:nvPr/>
        </p:nvSpPr>
        <p:spPr>
          <a:xfrm>
            <a:off x="7753611" y="5798183"/>
            <a:ext cx="1049501" cy="32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0"/>
              </a:lnSpc>
              <a:spcBef>
                <a:spcPct val="0"/>
              </a:spcBef>
            </a:pPr>
            <a:r>
              <a:rPr lang="en-US" sz="957" spc="47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CHANDRA</a:t>
            </a:r>
            <a:r>
              <a:rPr lang="en-US" sz="957" u="none" spc="47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SEKARAN</a:t>
            </a:r>
          </a:p>
        </p:txBody>
      </p:sp>
      <p:grpSp>
        <p:nvGrpSpPr>
          <p:cNvPr id="250" name="Group 129">
            <a:extLst>
              <a:ext uri="{FF2B5EF4-FFF2-40B4-BE49-F238E27FC236}">
                <a16:creationId xmlns:a16="http://schemas.microsoft.com/office/drawing/2014/main" id="{A77940BB-4129-4238-8B0A-B0A14882F700}"/>
              </a:ext>
            </a:extLst>
          </p:cNvPr>
          <p:cNvGrpSpPr/>
          <p:nvPr/>
        </p:nvGrpSpPr>
        <p:grpSpPr>
          <a:xfrm>
            <a:off x="16405624" y="8384332"/>
            <a:ext cx="1112941" cy="1494438"/>
            <a:chOff x="0" y="0"/>
            <a:chExt cx="789961" cy="1060746"/>
          </a:xfrm>
        </p:grpSpPr>
        <p:sp>
          <p:nvSpPr>
            <p:cNvPr id="251" name="Freeform 130">
              <a:extLst>
                <a:ext uri="{FF2B5EF4-FFF2-40B4-BE49-F238E27FC236}">
                  <a16:creationId xmlns:a16="http://schemas.microsoft.com/office/drawing/2014/main" id="{D775E658-1050-47D3-82D9-1283EAC0E24C}"/>
                </a:ext>
              </a:extLst>
            </p:cNvPr>
            <p:cNvSpPr/>
            <p:nvPr/>
          </p:nvSpPr>
          <p:spPr>
            <a:xfrm>
              <a:off x="0" y="0"/>
              <a:ext cx="789961" cy="1060746"/>
            </a:xfrm>
            <a:custGeom>
              <a:avLst/>
              <a:gdLst/>
              <a:ahLst/>
              <a:cxnLst/>
              <a:rect l="l" t="t" r="r" b="b"/>
              <a:pathLst>
                <a:path w="789961" h="1060746">
                  <a:moveTo>
                    <a:pt x="0" y="0"/>
                  </a:moveTo>
                  <a:lnTo>
                    <a:pt x="789961" y="0"/>
                  </a:lnTo>
                  <a:lnTo>
                    <a:pt x="789961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52" name="TextBox 131">
              <a:extLst>
                <a:ext uri="{FF2B5EF4-FFF2-40B4-BE49-F238E27FC236}">
                  <a16:creationId xmlns:a16="http://schemas.microsoft.com/office/drawing/2014/main" id="{5391E63F-123B-40EF-995C-84FD2D91705B}"/>
                </a:ext>
              </a:extLst>
            </p:cNvPr>
            <p:cNvSpPr txBox="1"/>
            <p:nvPr/>
          </p:nvSpPr>
          <p:spPr>
            <a:xfrm>
              <a:off x="0" y="-38100"/>
              <a:ext cx="789961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3" name="Group 132">
            <a:extLst>
              <a:ext uri="{FF2B5EF4-FFF2-40B4-BE49-F238E27FC236}">
                <a16:creationId xmlns:a16="http://schemas.microsoft.com/office/drawing/2014/main" id="{92863D4A-2B65-432C-B248-15BBAB942B9A}"/>
              </a:ext>
            </a:extLst>
          </p:cNvPr>
          <p:cNvGrpSpPr/>
          <p:nvPr/>
        </p:nvGrpSpPr>
        <p:grpSpPr>
          <a:xfrm>
            <a:off x="16484837" y="7836950"/>
            <a:ext cx="1012559" cy="1012555"/>
            <a:chOff x="0" y="0"/>
            <a:chExt cx="6350000" cy="6349975"/>
          </a:xfrm>
        </p:grpSpPr>
        <p:sp>
          <p:nvSpPr>
            <p:cNvPr id="254" name="Freeform 133">
              <a:extLst>
                <a:ext uri="{FF2B5EF4-FFF2-40B4-BE49-F238E27FC236}">
                  <a16:creationId xmlns:a16="http://schemas.microsoft.com/office/drawing/2014/main" id="{B7CCE953-EBC2-4342-A638-D306898F89DC}"/>
                </a:ext>
              </a:extLst>
            </p:cNvPr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0" cstate="print">
                <a:extLst>
                  <a:ext uri="{BEBA8EAE-BF5A-486C-A8C5-ECC9F3942E4B}">
                    <a14:imgProps xmlns:a14="http://schemas.microsoft.com/office/drawing/2010/main">
                      <a14:imgLayer r:embed="rId31">
                        <a14:imgEffect>
                          <a14:backgroundRemoval t="7520" b="65137" l="21170" r="81198">
                            <a14:foregroundMark x1="55432" y1="7520" x2="55432" y2="7520"/>
                            <a14:foregroundMark x1="53760" y1="51758" x2="60306" y2="50781"/>
                            <a14:foregroundMark x1="53900" y1="37109" x2="51950" y2="48926"/>
                            <a14:foregroundMark x1="51950" y1="48926" x2="81476" y2="44238"/>
                            <a14:foregroundMark x1="81476" y1="44238" x2="79248" y2="42383"/>
                            <a14:foregroundMark x1="76462" y1="46191" x2="41086" y2="59766"/>
                            <a14:foregroundMark x1="41086" y1="59766" x2="39833" y2="59375"/>
                            <a14:foregroundMark x1="47911" y1="48438" x2="47632" y2="39160"/>
                            <a14:foregroundMark x1="35655" y1="50098" x2="47354" y2="48535"/>
                            <a14:foregroundMark x1="43593" y1="41895" x2="34540" y2="45703"/>
                            <a14:foregroundMark x1="29944" y1="46191" x2="24373" y2="49707"/>
                            <a14:foregroundMark x1="24373" y1="49609" x2="59749" y2="56348"/>
                            <a14:foregroundMark x1="59749" y1="56348" x2="66713" y2="54883"/>
                            <a14:foregroundMark x1="66713" y1="54883" x2="29666" y2="55957"/>
                            <a14:foregroundMark x1="29666" y1="55957" x2="29387" y2="55566"/>
                            <a14:foregroundMark x1="27019" y1="52930" x2="66713" y2="57031"/>
                            <a14:foregroundMark x1="66713" y1="57031" x2="71170" y2="55762"/>
                            <a14:foregroundMark x1="64067" y1="62793" x2="51950" y2="60156"/>
                            <a14:foregroundMark x1="38997" y1="58594" x2="23259" y2="57227"/>
                            <a14:foregroundMark x1="32451" y1="60059" x2="21309" y2="59863"/>
                            <a14:foregroundMark x1="42897" y1="60352" x2="42897" y2="60352"/>
                            <a14:foregroundMark x1="49304" y1="62891" x2="49304" y2="62891"/>
                            <a14:foregroundMark x1="49304" y1="62793" x2="49304" y2="62793"/>
                            <a14:foregroundMark x1="49304" y1="62793" x2="49304" y2="62793"/>
                            <a14:foregroundMark x1="49304" y1="62793" x2="49304" y2="62793"/>
                            <a14:foregroundMark x1="46518" y1="62500" x2="46518" y2="62500"/>
                            <a14:foregroundMark x1="46518" y1="62305" x2="46518" y2="62305"/>
                            <a14:foregroundMark x1="46518" y1="62305" x2="46518" y2="62305"/>
                            <a14:foregroundMark x1="46379" y1="62305" x2="46379" y2="62305"/>
                            <a14:foregroundMark x1="43872" y1="60938" x2="43872" y2="60938"/>
                            <a14:foregroundMark x1="25905" y1="42676" x2="25905" y2="42676"/>
                            <a14:foregroundMark x1="25905" y1="42676" x2="25905" y2="42676"/>
                            <a14:foregroundMark x1="25905" y1="42676" x2="25905" y2="42676"/>
                            <a14:foregroundMark x1="25905" y1="42676" x2="25905" y2="42676"/>
                            <a14:foregroundMark x1="22284" y1="47070" x2="30223" y2="42676"/>
                            <a14:foregroundMark x1="21170" y1="43652" x2="21170" y2="43652"/>
                            <a14:foregroundMark x1="34819" y1="59180" x2="52368" y2="63574"/>
                            <a14:foregroundMark x1="48189" y1="63965" x2="37883" y2="61523"/>
                            <a14:foregroundMark x1="37883" y1="61523" x2="37883" y2="61523"/>
                            <a14:foregroundMark x1="37883" y1="61523" x2="35515" y2="60742"/>
                            <a14:foregroundMark x1="35515" y1="60742" x2="35515" y2="60742"/>
                            <a14:foregroundMark x1="35515" y1="60742" x2="35515" y2="60742"/>
                            <a14:foregroundMark x1="35515" y1="60742" x2="41226" y2="63672"/>
                            <a14:foregroundMark x1="41226" y1="63672" x2="41226" y2="63672"/>
                            <a14:foregroundMark x1="41226" y1="63672" x2="41226" y2="63672"/>
                            <a14:foregroundMark x1="41226" y1="63672" x2="45543" y2="65137"/>
                            <a14:foregroundMark x1="48886" y1="64355" x2="55710" y2="63477"/>
                            <a14:foregroundMark x1="55710" y1="63477" x2="55710" y2="63477"/>
                            <a14:foregroundMark x1="55710" y1="63477" x2="63370" y2="61816"/>
                            <a14:foregroundMark x1="51253" y1="64551" x2="58914" y2="63574"/>
                            <a14:foregroundMark x1="61421" y1="63770" x2="70474" y2="56250"/>
                            <a14:foregroundMark x1="70474" y1="56250" x2="70474" y2="56250"/>
                            <a14:foregroundMark x1="70474" y1="56250" x2="78134" y2="47070"/>
                            <a14:foregroundMark x1="78134" y1="47070" x2="78134" y2="47070"/>
                            <a14:foregroundMark x1="78134" y1="47070" x2="68106" y2="57617"/>
                            <a14:foregroundMark x1="66574" y1="61035" x2="74095" y2="54492"/>
                            <a14:foregroundMark x1="74095" y1="54492" x2="66574" y2="62207"/>
                            <a14:foregroundMark x1="80362" y1="44434" x2="78134" y2="47656"/>
                            <a14:foregroundMark x1="73120" y1="55664" x2="79944" y2="45898"/>
                            <a14:foregroundMark x1="79944" y1="45898" x2="79944" y2="45898"/>
                            <a14:foregroundMark x1="79944" y1="45898" x2="76184" y2="51465"/>
                            <a14:foregroundMark x1="78691" y1="49512" x2="78691" y2="49512"/>
                            <a14:foregroundMark x1="78691" y1="49512" x2="78691" y2="49512"/>
                            <a14:foregroundMark x1="34262" y1="60254" x2="42340" y2="63574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l="-30572" t="-2718" r="-28580" b="-56434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55" name="AutoShape 134">
            <a:extLst>
              <a:ext uri="{FF2B5EF4-FFF2-40B4-BE49-F238E27FC236}">
                <a16:creationId xmlns:a16="http://schemas.microsoft.com/office/drawing/2014/main" id="{CF58305B-2E25-4C72-9C7A-9BB3024384FA}"/>
              </a:ext>
            </a:extLst>
          </p:cNvPr>
          <p:cNvSpPr/>
          <p:nvPr/>
        </p:nvSpPr>
        <p:spPr>
          <a:xfrm flipH="1">
            <a:off x="16901849" y="9393758"/>
            <a:ext cx="2208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6" name="Group 135">
            <a:extLst>
              <a:ext uri="{FF2B5EF4-FFF2-40B4-BE49-F238E27FC236}">
                <a16:creationId xmlns:a16="http://schemas.microsoft.com/office/drawing/2014/main" id="{99979EB4-48B6-45FA-850D-45741D722C6F}"/>
              </a:ext>
            </a:extLst>
          </p:cNvPr>
          <p:cNvGrpSpPr/>
          <p:nvPr/>
        </p:nvGrpSpPr>
        <p:grpSpPr>
          <a:xfrm>
            <a:off x="14717704" y="8407277"/>
            <a:ext cx="1145117" cy="1494438"/>
            <a:chOff x="0" y="0"/>
            <a:chExt cx="812800" cy="1060746"/>
          </a:xfrm>
        </p:grpSpPr>
        <p:sp>
          <p:nvSpPr>
            <p:cNvPr id="257" name="Freeform 136">
              <a:extLst>
                <a:ext uri="{FF2B5EF4-FFF2-40B4-BE49-F238E27FC236}">
                  <a16:creationId xmlns:a16="http://schemas.microsoft.com/office/drawing/2014/main" id="{A780830E-8E3C-4622-B135-87C6F4BF637D}"/>
                </a:ext>
              </a:extLst>
            </p:cNvPr>
            <p:cNvSpPr/>
            <p:nvPr/>
          </p:nvSpPr>
          <p:spPr>
            <a:xfrm>
              <a:off x="0" y="0"/>
              <a:ext cx="812800" cy="1060746"/>
            </a:xfrm>
            <a:custGeom>
              <a:avLst/>
              <a:gdLst/>
              <a:ahLst/>
              <a:cxnLst/>
              <a:rect l="l" t="t" r="r" b="b"/>
              <a:pathLst>
                <a:path w="812800" h="1060746">
                  <a:moveTo>
                    <a:pt x="0" y="0"/>
                  </a:moveTo>
                  <a:lnTo>
                    <a:pt x="812800" y="0"/>
                  </a:lnTo>
                  <a:lnTo>
                    <a:pt x="812800" y="1060746"/>
                  </a:lnTo>
                  <a:lnTo>
                    <a:pt x="0" y="1060746"/>
                  </a:lnTo>
                  <a:close/>
                </a:path>
              </a:pathLst>
            </a:custGeom>
            <a:solidFill>
              <a:srgbClr val="E9EDED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258" name="TextBox 137">
              <a:extLst>
                <a:ext uri="{FF2B5EF4-FFF2-40B4-BE49-F238E27FC236}">
                  <a16:creationId xmlns:a16="http://schemas.microsoft.com/office/drawing/2014/main" id="{FD0A9AFA-E61F-41BE-A47C-CBBAACCD4CD7}"/>
                </a:ext>
              </a:extLst>
            </p:cNvPr>
            <p:cNvSpPr txBox="1"/>
            <p:nvPr/>
          </p:nvSpPr>
          <p:spPr>
            <a:xfrm>
              <a:off x="0" y="-38100"/>
              <a:ext cx="812800" cy="1098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9" name="Group 138">
            <a:extLst>
              <a:ext uri="{FF2B5EF4-FFF2-40B4-BE49-F238E27FC236}">
                <a16:creationId xmlns:a16="http://schemas.microsoft.com/office/drawing/2014/main" id="{C92EDC4D-C9AA-4F1F-8C61-1DFE1CBD5BB8}"/>
              </a:ext>
            </a:extLst>
          </p:cNvPr>
          <p:cNvGrpSpPr/>
          <p:nvPr/>
        </p:nvGrpSpPr>
        <p:grpSpPr>
          <a:xfrm>
            <a:off x="14783982" y="7867104"/>
            <a:ext cx="1012559" cy="1012555"/>
            <a:chOff x="0" y="0"/>
            <a:chExt cx="6350000" cy="6349975"/>
          </a:xfrm>
        </p:grpSpPr>
        <p:sp>
          <p:nvSpPr>
            <p:cNvPr id="260" name="Freeform 139">
              <a:extLst>
                <a:ext uri="{FF2B5EF4-FFF2-40B4-BE49-F238E27FC236}">
                  <a16:creationId xmlns:a16="http://schemas.microsoft.com/office/drawing/2014/main" id="{89EC9F3D-F6E1-48A3-AB01-571E947B2C96}"/>
                </a:ext>
              </a:extLst>
            </p:cNvPr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2" cstate="print">
                <a:extLst>
                  <a:ext uri="{BEBA8EAE-BF5A-486C-A8C5-ECC9F3942E4B}">
                    <a14:imgProps xmlns:a14="http://schemas.microsoft.com/office/drawing/2010/main">
                      <a14:imgLayer r:embed="rId33">
                        <a14:imgEffect>
                          <a14:backgroundRemoval t="11022" b="70161" l="16890" r="78552">
                            <a14:foregroundMark x1="49062" y1="11290" x2="49062" y2="11290"/>
                            <a14:foregroundMark x1="55228" y1="50269" x2="55228" y2="50269"/>
                            <a14:foregroundMark x1="52011" y1="46237" x2="72118" y2="57527"/>
                            <a14:foregroundMark x1="59517" y1="40323" x2="37802" y2="53763"/>
                            <a14:foregroundMark x1="41019" y1="47849" x2="39946" y2="44624"/>
                            <a14:foregroundMark x1="51743" y1="50538" x2="45845" y2="56989"/>
                            <a14:foregroundMark x1="63539" y1="56452" x2="63539" y2="56452"/>
                            <a14:foregroundMark x1="56032" y1="65860" x2="56032" y2="65860"/>
                            <a14:foregroundMark x1="60858" y1="53763" x2="38338" y2="66129"/>
                            <a14:foregroundMark x1="38338" y1="66129" x2="38338" y2="66129"/>
                            <a14:foregroundMark x1="79088" y1="49462" x2="79088" y2="49462"/>
                            <a14:foregroundMark x1="69705" y1="52419" x2="69705" y2="52419"/>
                            <a14:foregroundMark x1="61662" y1="42742" x2="61662" y2="42742"/>
                            <a14:foregroundMark x1="66756" y1="46774" x2="73727" y2="48656"/>
                            <a14:foregroundMark x1="38338" y1="46774" x2="44772" y2="49194"/>
                            <a14:foregroundMark x1="46381" y1="40860" x2="24665" y2="56989"/>
                            <a14:foregroundMark x1="45308" y1="47849" x2="20912" y2="70430"/>
                            <a14:foregroundMark x1="20912" y1="70430" x2="20912" y2="69892"/>
                            <a14:foregroundMark x1="16890" y1="63710" x2="22252" y2="50806"/>
                            <a14:foregroundMark x1="75603" y1="62097" x2="75603" y2="62097"/>
                            <a14:foregroundMark x1="73995" y1="62366" x2="73995" y2="62366"/>
                            <a14:foregroundMark x1="72654" y1="62366" x2="72654" y2="62366"/>
                            <a14:foregroundMark x1="72386" y1="62366" x2="72386" y2="62366"/>
                            <a14:foregroundMark x1="70509" y1="63710" x2="69973" y2="59409"/>
                            <a14:foregroundMark x1="69973" y1="59409" x2="69973" y2="59409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l="-23637" t="-10341" r="-29255" b="-42551"/>
              </a:stretch>
            </a:blipFill>
          </p:spPr>
        </p:sp>
      </p:grpSp>
      <p:sp>
        <p:nvSpPr>
          <p:cNvPr id="261" name="AutoShape 140">
            <a:extLst>
              <a:ext uri="{FF2B5EF4-FFF2-40B4-BE49-F238E27FC236}">
                <a16:creationId xmlns:a16="http://schemas.microsoft.com/office/drawing/2014/main" id="{D878DAC8-1D17-4EF7-B476-7B0FB48022A6}"/>
              </a:ext>
            </a:extLst>
          </p:cNvPr>
          <p:cNvSpPr/>
          <p:nvPr/>
        </p:nvSpPr>
        <p:spPr>
          <a:xfrm flipH="1">
            <a:off x="15179827" y="9416703"/>
            <a:ext cx="22087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2" name="TextBox 198">
            <a:extLst>
              <a:ext uri="{FF2B5EF4-FFF2-40B4-BE49-F238E27FC236}">
                <a16:creationId xmlns:a16="http://schemas.microsoft.com/office/drawing/2014/main" id="{03F3C2E3-92A3-48BF-8D3D-44E8D6D1800A}"/>
              </a:ext>
            </a:extLst>
          </p:cNvPr>
          <p:cNvSpPr txBox="1"/>
          <p:nvPr/>
        </p:nvSpPr>
        <p:spPr>
          <a:xfrm>
            <a:off x="16398195" y="9458329"/>
            <a:ext cx="1116106" cy="374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CPA (Aust.), FCA, CBAP, DISA &amp; ESG Specialist</a:t>
            </a:r>
          </a:p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b="1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(Associate Partner)</a:t>
            </a:r>
          </a:p>
        </p:txBody>
      </p:sp>
      <p:sp>
        <p:nvSpPr>
          <p:cNvPr id="263" name="TextBox 199">
            <a:extLst>
              <a:ext uri="{FF2B5EF4-FFF2-40B4-BE49-F238E27FC236}">
                <a16:creationId xmlns:a16="http://schemas.microsoft.com/office/drawing/2014/main" id="{12517996-9B07-4053-A405-8C9230168C82}"/>
              </a:ext>
            </a:extLst>
          </p:cNvPr>
          <p:cNvSpPr txBox="1"/>
          <p:nvPr/>
        </p:nvSpPr>
        <p:spPr>
          <a:xfrm>
            <a:off x="16468326" y="8954720"/>
            <a:ext cx="1087916" cy="34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u="none" spc="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JHANKHNA</a:t>
            </a:r>
            <a:br>
              <a:rPr lang="en-US" sz="964" u="none" spc="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</a:br>
            <a:r>
              <a:rPr lang="en-US" sz="964" u="none" spc="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PATEL</a:t>
            </a:r>
          </a:p>
        </p:txBody>
      </p:sp>
      <p:sp>
        <p:nvSpPr>
          <p:cNvPr id="264" name="TextBox 200">
            <a:extLst>
              <a:ext uri="{FF2B5EF4-FFF2-40B4-BE49-F238E27FC236}">
                <a16:creationId xmlns:a16="http://schemas.microsoft.com/office/drawing/2014/main" id="{37EEFEA7-67F3-41E6-9666-993C253395DF}"/>
              </a:ext>
            </a:extLst>
          </p:cNvPr>
          <p:cNvSpPr txBox="1"/>
          <p:nvPr/>
        </p:nvSpPr>
        <p:spPr>
          <a:xfrm>
            <a:off x="14746619" y="9483529"/>
            <a:ext cx="1123631" cy="374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38"/>
              </a:lnSpc>
              <a:spcBef>
                <a:spcPct val="0"/>
              </a:spcBef>
            </a:pPr>
            <a:r>
              <a:rPr lang="en-US" sz="742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B.Com</a:t>
            </a:r>
            <a:r>
              <a:rPr lang="en-US" sz="742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, FCA, Financial Strategy Specialist</a:t>
            </a:r>
          </a:p>
          <a:p>
            <a:pPr algn="ctr">
              <a:lnSpc>
                <a:spcPts val="1038"/>
              </a:lnSpc>
              <a:spcBef>
                <a:spcPct val="0"/>
              </a:spcBef>
            </a:pPr>
            <a:r>
              <a:rPr lang="en-US" sz="742" b="1" u="none" strike="noStrike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(Associate Partner)</a:t>
            </a:r>
            <a:endParaRPr lang="en-US" sz="742" dirty="0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265" name="TextBox 201">
            <a:extLst>
              <a:ext uri="{FF2B5EF4-FFF2-40B4-BE49-F238E27FC236}">
                <a16:creationId xmlns:a16="http://schemas.microsoft.com/office/drawing/2014/main" id="{53BDF2AD-B9E8-4320-89F6-77F24E11FA13}"/>
              </a:ext>
            </a:extLst>
          </p:cNvPr>
          <p:cNvSpPr txBox="1"/>
          <p:nvPr/>
        </p:nvSpPr>
        <p:spPr>
          <a:xfrm>
            <a:off x="14799749" y="8979920"/>
            <a:ext cx="981027" cy="34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u="none" spc="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</a:t>
            </a:r>
            <a:r>
              <a:rPr lang="en-US" sz="964" spc="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RTH </a:t>
            </a:r>
          </a:p>
          <a:p>
            <a:pPr marL="0" lvl="0" indent="0" algn="ctr">
              <a:lnSpc>
                <a:spcPts val="1350"/>
              </a:lnSpc>
              <a:spcBef>
                <a:spcPct val="0"/>
              </a:spcBef>
            </a:pPr>
            <a:r>
              <a:rPr lang="en-US" sz="964" u="none" spc="4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SHAH</a:t>
            </a:r>
          </a:p>
        </p:txBody>
      </p:sp>
    </p:spTree>
    <p:extLst>
      <p:ext uri="{BB962C8B-B14F-4D97-AF65-F5344CB8AC3E}">
        <p14:creationId xmlns:p14="http://schemas.microsoft.com/office/powerpoint/2010/main" val="145225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45074" y="1231201"/>
            <a:ext cx="8737391" cy="2830923"/>
          </a:xfrm>
          <a:custGeom>
            <a:avLst/>
            <a:gdLst/>
            <a:ahLst/>
            <a:cxnLst/>
            <a:rect l="l" t="t" r="r" b="b"/>
            <a:pathLst>
              <a:path w="11673909" h="2830923">
                <a:moveTo>
                  <a:pt x="0" y="0"/>
                </a:moveTo>
                <a:lnTo>
                  <a:pt x="11673908" y="0"/>
                </a:lnTo>
                <a:lnTo>
                  <a:pt x="11673908" y="2830923"/>
                </a:lnTo>
                <a:lnTo>
                  <a:pt x="0" y="283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3608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4292279" y="1480681"/>
            <a:ext cx="671747" cy="67174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880928" y="4282198"/>
            <a:ext cx="11673909" cy="2830923"/>
          </a:xfrm>
          <a:custGeom>
            <a:avLst/>
            <a:gdLst/>
            <a:ahLst/>
            <a:cxnLst/>
            <a:rect l="l" t="t" r="r" b="b"/>
            <a:pathLst>
              <a:path w="11673909" h="2830923">
                <a:moveTo>
                  <a:pt x="0" y="0"/>
                </a:moveTo>
                <a:lnTo>
                  <a:pt x="11673908" y="0"/>
                </a:lnTo>
                <a:lnTo>
                  <a:pt x="11673908" y="2830923"/>
                </a:lnTo>
                <a:lnTo>
                  <a:pt x="0" y="283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880928" y="7395790"/>
            <a:ext cx="11673909" cy="2830923"/>
          </a:xfrm>
          <a:custGeom>
            <a:avLst/>
            <a:gdLst/>
            <a:ahLst/>
            <a:cxnLst/>
            <a:rect l="l" t="t" r="r" b="b"/>
            <a:pathLst>
              <a:path w="11673909" h="2830923">
                <a:moveTo>
                  <a:pt x="0" y="0"/>
                </a:moveTo>
                <a:lnTo>
                  <a:pt x="11673908" y="0"/>
                </a:lnTo>
                <a:lnTo>
                  <a:pt x="11673908" y="2830923"/>
                </a:lnTo>
                <a:lnTo>
                  <a:pt x="0" y="283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3697190" y="4313096"/>
            <a:ext cx="2816061" cy="2830923"/>
          </a:xfrm>
          <a:custGeom>
            <a:avLst/>
            <a:gdLst/>
            <a:ahLst/>
            <a:cxnLst/>
            <a:rect l="l" t="t" r="r" b="b"/>
            <a:pathLst>
              <a:path w="11673909" h="2830923">
                <a:moveTo>
                  <a:pt x="0" y="0"/>
                </a:moveTo>
                <a:lnTo>
                  <a:pt x="11673909" y="0"/>
                </a:lnTo>
                <a:lnTo>
                  <a:pt x="11673909" y="2830923"/>
                </a:lnTo>
                <a:lnTo>
                  <a:pt x="0" y="283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" r="-31454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4414631" y="1646491"/>
            <a:ext cx="466236" cy="384645"/>
          </a:xfrm>
          <a:custGeom>
            <a:avLst/>
            <a:gdLst/>
            <a:ahLst/>
            <a:cxnLst/>
            <a:rect l="l" t="t" r="r" b="b"/>
            <a:pathLst>
              <a:path w="466236" h="384645">
                <a:moveTo>
                  <a:pt x="0" y="0"/>
                </a:moveTo>
                <a:lnTo>
                  <a:pt x="466236" y="0"/>
                </a:lnTo>
                <a:lnTo>
                  <a:pt x="466236" y="384645"/>
                </a:lnTo>
                <a:lnTo>
                  <a:pt x="0" y="3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7278325" y="1480681"/>
            <a:ext cx="671747" cy="671747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7400676" y="1646491"/>
            <a:ext cx="466236" cy="384645"/>
          </a:xfrm>
          <a:custGeom>
            <a:avLst/>
            <a:gdLst/>
            <a:ahLst/>
            <a:cxnLst/>
            <a:rect l="l" t="t" r="r" b="b"/>
            <a:pathLst>
              <a:path w="466236" h="384645">
                <a:moveTo>
                  <a:pt x="0" y="0"/>
                </a:moveTo>
                <a:lnTo>
                  <a:pt x="466236" y="0"/>
                </a:lnTo>
                <a:lnTo>
                  <a:pt x="466236" y="384645"/>
                </a:lnTo>
                <a:lnTo>
                  <a:pt x="0" y="3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3" name="Group 23"/>
          <p:cNvGrpSpPr/>
          <p:nvPr/>
        </p:nvGrpSpPr>
        <p:grpSpPr>
          <a:xfrm>
            <a:off x="10185524" y="1470356"/>
            <a:ext cx="671747" cy="67174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0297070" y="1637691"/>
            <a:ext cx="466236" cy="384645"/>
          </a:xfrm>
          <a:custGeom>
            <a:avLst/>
            <a:gdLst/>
            <a:ahLst/>
            <a:cxnLst/>
            <a:rect l="l" t="t" r="r" b="b"/>
            <a:pathLst>
              <a:path w="466236" h="384645">
                <a:moveTo>
                  <a:pt x="0" y="0"/>
                </a:moveTo>
                <a:lnTo>
                  <a:pt x="466236" y="0"/>
                </a:lnTo>
                <a:lnTo>
                  <a:pt x="466236" y="384645"/>
                </a:lnTo>
                <a:lnTo>
                  <a:pt x="0" y="3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2767012" y="4532173"/>
            <a:ext cx="671747" cy="671747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53057" y="4532173"/>
            <a:ext cx="671747" cy="671747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660256" y="4521849"/>
            <a:ext cx="671747" cy="671747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646301" y="4521849"/>
            <a:ext cx="671747" cy="671747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575483" y="4606771"/>
            <a:ext cx="671747" cy="671747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777336" y="7839746"/>
            <a:ext cx="671747" cy="671747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63382" y="7839746"/>
            <a:ext cx="671747" cy="671747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670581" y="7829421"/>
            <a:ext cx="671747" cy="671747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656626" y="7829421"/>
            <a:ext cx="671747" cy="671747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>
            <a:off x="2836897" y="4678802"/>
            <a:ext cx="492937" cy="402360"/>
          </a:xfrm>
          <a:custGeom>
            <a:avLst/>
            <a:gdLst/>
            <a:ahLst/>
            <a:cxnLst/>
            <a:rect l="l" t="t" r="r" b="b"/>
            <a:pathLst>
              <a:path w="492937" h="402360">
                <a:moveTo>
                  <a:pt x="0" y="0"/>
                </a:moveTo>
                <a:lnTo>
                  <a:pt x="492938" y="0"/>
                </a:lnTo>
                <a:lnTo>
                  <a:pt x="492938" y="402360"/>
                </a:lnTo>
                <a:lnTo>
                  <a:pt x="0" y="402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3" name="Freeform 63"/>
          <p:cNvSpPr/>
          <p:nvPr/>
        </p:nvSpPr>
        <p:spPr>
          <a:xfrm>
            <a:off x="5830996" y="4678802"/>
            <a:ext cx="492937" cy="402360"/>
          </a:xfrm>
          <a:custGeom>
            <a:avLst/>
            <a:gdLst/>
            <a:ahLst/>
            <a:cxnLst/>
            <a:rect l="l" t="t" r="r" b="b"/>
            <a:pathLst>
              <a:path w="492937" h="402360">
                <a:moveTo>
                  <a:pt x="0" y="0"/>
                </a:moveTo>
                <a:lnTo>
                  <a:pt x="492937" y="0"/>
                </a:lnTo>
                <a:lnTo>
                  <a:pt x="492937" y="402360"/>
                </a:lnTo>
                <a:lnTo>
                  <a:pt x="0" y="402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4" name="Freeform 64"/>
          <p:cNvSpPr/>
          <p:nvPr/>
        </p:nvSpPr>
        <p:spPr>
          <a:xfrm>
            <a:off x="8730142" y="4666867"/>
            <a:ext cx="492937" cy="402360"/>
          </a:xfrm>
          <a:custGeom>
            <a:avLst/>
            <a:gdLst/>
            <a:ahLst/>
            <a:cxnLst/>
            <a:rect l="l" t="t" r="r" b="b"/>
            <a:pathLst>
              <a:path w="492937" h="402360">
                <a:moveTo>
                  <a:pt x="0" y="0"/>
                </a:moveTo>
                <a:lnTo>
                  <a:pt x="492937" y="0"/>
                </a:lnTo>
                <a:lnTo>
                  <a:pt x="492937" y="402360"/>
                </a:lnTo>
                <a:lnTo>
                  <a:pt x="0" y="402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5" name="Freeform 65"/>
          <p:cNvSpPr/>
          <p:nvPr/>
        </p:nvSpPr>
        <p:spPr>
          <a:xfrm>
            <a:off x="11727300" y="4678802"/>
            <a:ext cx="492937" cy="402360"/>
          </a:xfrm>
          <a:custGeom>
            <a:avLst/>
            <a:gdLst/>
            <a:ahLst/>
            <a:cxnLst/>
            <a:rect l="l" t="t" r="r" b="b"/>
            <a:pathLst>
              <a:path w="492937" h="402360">
                <a:moveTo>
                  <a:pt x="0" y="0"/>
                </a:moveTo>
                <a:lnTo>
                  <a:pt x="492937" y="0"/>
                </a:lnTo>
                <a:lnTo>
                  <a:pt x="492937" y="402360"/>
                </a:lnTo>
                <a:lnTo>
                  <a:pt x="0" y="402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6" name="Freeform 66"/>
          <p:cNvSpPr/>
          <p:nvPr/>
        </p:nvSpPr>
        <p:spPr>
          <a:xfrm>
            <a:off x="14645369" y="4753399"/>
            <a:ext cx="492937" cy="402360"/>
          </a:xfrm>
          <a:custGeom>
            <a:avLst/>
            <a:gdLst/>
            <a:ahLst/>
            <a:cxnLst/>
            <a:rect l="l" t="t" r="r" b="b"/>
            <a:pathLst>
              <a:path w="492937" h="402360">
                <a:moveTo>
                  <a:pt x="0" y="0"/>
                </a:moveTo>
                <a:lnTo>
                  <a:pt x="492938" y="0"/>
                </a:lnTo>
                <a:lnTo>
                  <a:pt x="492938" y="402360"/>
                </a:lnTo>
                <a:lnTo>
                  <a:pt x="0" y="402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7" name="Freeform 67"/>
          <p:cNvSpPr/>
          <p:nvPr/>
        </p:nvSpPr>
        <p:spPr>
          <a:xfrm>
            <a:off x="5841187" y="7912412"/>
            <a:ext cx="495487" cy="526414"/>
          </a:xfrm>
          <a:custGeom>
            <a:avLst/>
            <a:gdLst/>
            <a:ahLst/>
            <a:cxnLst/>
            <a:rect l="l" t="t" r="r" b="b"/>
            <a:pathLst>
              <a:path w="495487" h="526414">
                <a:moveTo>
                  <a:pt x="0" y="0"/>
                </a:moveTo>
                <a:lnTo>
                  <a:pt x="495487" y="0"/>
                </a:lnTo>
                <a:lnTo>
                  <a:pt x="495487" y="526414"/>
                </a:lnTo>
                <a:lnTo>
                  <a:pt x="0" y="526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8" name="Freeform 68"/>
          <p:cNvSpPr/>
          <p:nvPr/>
        </p:nvSpPr>
        <p:spPr>
          <a:xfrm>
            <a:off x="2893764" y="7863621"/>
            <a:ext cx="393118" cy="623997"/>
          </a:xfrm>
          <a:custGeom>
            <a:avLst/>
            <a:gdLst/>
            <a:ahLst/>
            <a:cxnLst/>
            <a:rect l="l" t="t" r="r" b="b"/>
            <a:pathLst>
              <a:path w="393118" h="623997">
                <a:moveTo>
                  <a:pt x="0" y="0"/>
                </a:moveTo>
                <a:lnTo>
                  <a:pt x="393118" y="0"/>
                </a:lnTo>
                <a:lnTo>
                  <a:pt x="393118" y="623997"/>
                </a:lnTo>
                <a:lnTo>
                  <a:pt x="0" y="623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9" name="Freeform 69"/>
          <p:cNvSpPr/>
          <p:nvPr/>
        </p:nvSpPr>
        <p:spPr>
          <a:xfrm>
            <a:off x="8772571" y="7851388"/>
            <a:ext cx="408079" cy="627814"/>
          </a:xfrm>
          <a:custGeom>
            <a:avLst/>
            <a:gdLst/>
            <a:ahLst/>
            <a:cxnLst/>
            <a:rect l="l" t="t" r="r" b="b"/>
            <a:pathLst>
              <a:path w="408079" h="627814">
                <a:moveTo>
                  <a:pt x="0" y="0"/>
                </a:moveTo>
                <a:lnTo>
                  <a:pt x="408079" y="0"/>
                </a:lnTo>
                <a:lnTo>
                  <a:pt x="408079" y="627813"/>
                </a:lnTo>
                <a:lnTo>
                  <a:pt x="0" y="6278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0" name="Freeform 70"/>
          <p:cNvSpPr/>
          <p:nvPr/>
        </p:nvSpPr>
        <p:spPr>
          <a:xfrm>
            <a:off x="11783348" y="7908289"/>
            <a:ext cx="397654" cy="534661"/>
          </a:xfrm>
          <a:custGeom>
            <a:avLst/>
            <a:gdLst/>
            <a:ahLst/>
            <a:cxnLst/>
            <a:rect l="l" t="t" r="r" b="b"/>
            <a:pathLst>
              <a:path w="397654" h="534661">
                <a:moveTo>
                  <a:pt x="0" y="0"/>
                </a:moveTo>
                <a:lnTo>
                  <a:pt x="397654" y="0"/>
                </a:lnTo>
                <a:lnTo>
                  <a:pt x="397654" y="534661"/>
                </a:lnTo>
                <a:lnTo>
                  <a:pt x="0" y="5346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1" name="AutoShape 71"/>
          <p:cNvSpPr/>
          <p:nvPr/>
        </p:nvSpPr>
        <p:spPr>
          <a:xfrm flipH="1">
            <a:off x="1122719" y="1028700"/>
            <a:ext cx="328612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72" name="Group 72"/>
          <p:cNvGrpSpPr/>
          <p:nvPr/>
        </p:nvGrpSpPr>
        <p:grpSpPr>
          <a:xfrm>
            <a:off x="16650350" y="542925"/>
            <a:ext cx="1666225" cy="9734550"/>
            <a:chOff x="0" y="0"/>
            <a:chExt cx="404856" cy="236528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04856" cy="2365283"/>
            </a:xfrm>
            <a:custGeom>
              <a:avLst/>
              <a:gdLst/>
              <a:ahLst/>
              <a:cxnLst/>
              <a:rect l="l" t="t" r="r" b="b"/>
              <a:pathLst>
                <a:path w="404856" h="2365283">
                  <a:moveTo>
                    <a:pt x="0" y="0"/>
                  </a:moveTo>
                  <a:lnTo>
                    <a:pt x="404856" y="0"/>
                  </a:lnTo>
                  <a:lnTo>
                    <a:pt x="404856" y="2365283"/>
                  </a:lnTo>
                  <a:lnTo>
                    <a:pt x="0" y="2365283"/>
                  </a:lnTo>
                  <a:close/>
                </a:path>
              </a:pathLst>
            </a:custGeom>
            <a:solidFill>
              <a:srgbClr val="E9EDE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404856" cy="2365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3464428" y="2270405"/>
            <a:ext cx="2316905" cy="1141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</a:pPr>
            <a:r>
              <a:rPr lang="en-US" sz="152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Unit No. B-406 to 410, 4th floor, </a:t>
            </a:r>
            <a:r>
              <a:rPr lang="en-US" sz="1521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Navkar</a:t>
            </a:r>
            <a:r>
              <a:rPr lang="en-US" sz="152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Chambers, Marol Naka Metro Station, Andheri (East). Maharashtra – 400059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907171" y="3490484"/>
            <a:ext cx="1425243" cy="2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 u="none" strike="noStrik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H.O. ANDHERI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386339" y="2260880"/>
            <a:ext cx="2293014" cy="992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Unit No 11-12,Regency Avenue, </a:t>
            </a:r>
            <a:r>
              <a:rPr lang="en-US" sz="1521" u="none" strike="noStrik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Murbad</a:t>
            </a: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Road Kalyan (West).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Maharashtra - 421301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091688" y="3505487"/>
            <a:ext cx="1132483" cy="54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</a:t>
            </a:r>
            <a:r>
              <a:rPr lang="en-US" sz="1738" b="1" u="none" strike="noStrike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ALYAN</a:t>
            </a:r>
          </a:p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endParaRPr lang="en-US" sz="1738" b="1" u="none" strike="noStrike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9380772" y="2270405"/>
            <a:ext cx="2316905" cy="96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Unit No.402, 4th floor,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Nav </a:t>
            </a:r>
            <a:r>
              <a:rPr lang="en-US" sz="1521" u="none" strike="noStrik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Vyapar</a:t>
            </a: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Bhavan, 49 </a:t>
            </a:r>
            <a:r>
              <a:rPr lang="en-US" sz="1521" u="none" strike="noStrik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P.D’mello</a:t>
            </a: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Road, MB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Maharashtra - 400009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682696" y="3505487"/>
            <a:ext cx="1847580" cy="257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MASJID BUNDE</a:t>
            </a:r>
            <a:r>
              <a:rPr lang="en-US" sz="1738" b="1" u="none" strike="noStrike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988397" y="5323414"/>
            <a:ext cx="2293014" cy="1206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Level 10, 1016–21,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Swati Clover, </a:t>
            </a:r>
            <a:r>
              <a:rPr lang="en-US" sz="1521" u="none" strike="noStrik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Shilaj</a:t>
            </a: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Circle,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Sardar Patel Ring Road,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Thaltej</a:t>
            </a: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Ahmedabad,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Gujarat – 380054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361428" y="6560704"/>
            <a:ext cx="1605965" cy="27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AHMEDABAD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930957" y="5497895"/>
            <a:ext cx="2293014" cy="914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4th floor, Lila Chambers,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Notus Pride,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Vadodara.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Gujarat-390023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492406" y="6545466"/>
            <a:ext cx="1410654" cy="27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VAD</a:t>
            </a:r>
            <a:r>
              <a:rPr lang="en-US" sz="1738" b="1" u="none" strike="noStrik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ODARA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7927159" y="5497895"/>
            <a:ext cx="2316905" cy="92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 303, Kings Heights, Vidya Kunj Society, Main Road, Near Amin Marg, Rajkot, Gujarat - 360001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637126" y="6545466"/>
            <a:ext cx="1026911" cy="27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</a:t>
            </a:r>
            <a:r>
              <a:rPr lang="en-US" sz="1738" b="1" u="none" strike="noStrik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AJKOT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862042" y="5355520"/>
            <a:ext cx="2343986" cy="114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504</a:t>
            </a: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5th Floor, Shubh square. Opp Venus Hospital, Lal Darwaja, Gotalawadi Road,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Gujarat  – 395003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1628666" y="6545466"/>
            <a:ext cx="993019" cy="27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SURAT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3828620" y="5384982"/>
            <a:ext cx="2316905" cy="68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Unit No.101, Saga Casa,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Daulat Nagar, Vapi.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Gujarat - 396215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4737240" y="6620064"/>
            <a:ext cx="579876" cy="27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VAPI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026264" y="8669215"/>
            <a:ext cx="2293014" cy="96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3rd Floor, Aria, No. 541 AECS Layout Main Road, Above Costa Coffee, Bangalore – 560 037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4968824" y="8656185"/>
            <a:ext cx="2293014" cy="914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</a:t>
            </a: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 No.306,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DIF Centre, Savitri Cinema Complex,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Delhi - 110048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963257" y="8656185"/>
            <a:ext cx="2316905" cy="91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Unit No.402, </a:t>
            </a: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4th floor, Vardhan Complex, 25A Camac Street, Kolkata.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West Bengal - 700016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885168" y="8656185"/>
            <a:ext cx="2343986" cy="914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No: 43/6</a:t>
            </a: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South West Boag Road,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T-Nagar,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Chennai – 600017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28700" y="193673"/>
            <a:ext cx="10882504" cy="86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00"/>
              </a:lnSpc>
              <a:spcBef>
                <a:spcPct val="0"/>
              </a:spcBef>
            </a:pPr>
            <a:r>
              <a:rPr lang="en-US" sz="6500" u="none" strike="noStrike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JHS OFFICES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2477425" y="9703448"/>
            <a:ext cx="1428414" cy="27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BENGALURU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803087" y="9688211"/>
            <a:ext cx="863365" cy="27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DELHI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499219" y="9688211"/>
            <a:ext cx="1244982" cy="27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 u="none" strike="noStrik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KOLKATA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1514992" y="9688211"/>
            <a:ext cx="1232443" cy="273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CHENNAI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7578243" y="9968163"/>
            <a:ext cx="169918" cy="19858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17</a:t>
            </a:r>
          </a:p>
        </p:txBody>
      </p:sp>
      <p:sp>
        <p:nvSpPr>
          <p:cNvPr id="106" name="Freeform 20">
            <a:extLst>
              <a:ext uri="{FF2B5EF4-FFF2-40B4-BE49-F238E27FC236}">
                <a16:creationId xmlns:a16="http://schemas.microsoft.com/office/drawing/2014/main" id="{9CC67A3D-BC78-4B76-A94A-4ADB8A4B2F4B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5" name="Freeform 13">
            <a:extLst>
              <a:ext uri="{FF2B5EF4-FFF2-40B4-BE49-F238E27FC236}">
                <a16:creationId xmlns:a16="http://schemas.microsoft.com/office/drawing/2014/main" id="{6DEF59C0-318A-4A96-8759-DD729989B176}"/>
              </a:ext>
            </a:extLst>
          </p:cNvPr>
          <p:cNvSpPr/>
          <p:nvPr/>
        </p:nvSpPr>
        <p:spPr>
          <a:xfrm>
            <a:off x="13688916" y="7395790"/>
            <a:ext cx="2816061" cy="2830923"/>
          </a:xfrm>
          <a:custGeom>
            <a:avLst/>
            <a:gdLst/>
            <a:ahLst/>
            <a:cxnLst/>
            <a:rect l="l" t="t" r="r" b="b"/>
            <a:pathLst>
              <a:path w="11673909" h="2830923">
                <a:moveTo>
                  <a:pt x="0" y="0"/>
                </a:moveTo>
                <a:lnTo>
                  <a:pt x="11673909" y="0"/>
                </a:lnTo>
                <a:lnTo>
                  <a:pt x="11673909" y="2830923"/>
                </a:lnTo>
                <a:lnTo>
                  <a:pt x="0" y="283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" r="-31454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7" name="Group 47">
            <a:extLst>
              <a:ext uri="{FF2B5EF4-FFF2-40B4-BE49-F238E27FC236}">
                <a16:creationId xmlns:a16="http://schemas.microsoft.com/office/drawing/2014/main" id="{8B5F565B-9285-46C5-8D77-53AAFA268DA1}"/>
              </a:ext>
            </a:extLst>
          </p:cNvPr>
          <p:cNvGrpSpPr/>
          <p:nvPr/>
        </p:nvGrpSpPr>
        <p:grpSpPr>
          <a:xfrm>
            <a:off x="14567209" y="7689465"/>
            <a:ext cx="671747" cy="671747"/>
            <a:chOff x="0" y="0"/>
            <a:chExt cx="812800" cy="812800"/>
          </a:xfrm>
        </p:grpSpPr>
        <p:sp>
          <p:nvSpPr>
            <p:cNvPr id="108" name="Freeform 48">
              <a:extLst>
                <a:ext uri="{FF2B5EF4-FFF2-40B4-BE49-F238E27FC236}">
                  <a16:creationId xmlns:a16="http://schemas.microsoft.com/office/drawing/2014/main" id="{B44EC56D-8E4C-433A-8B5A-605705F39F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TextBox 49">
              <a:extLst>
                <a:ext uri="{FF2B5EF4-FFF2-40B4-BE49-F238E27FC236}">
                  <a16:creationId xmlns:a16="http://schemas.microsoft.com/office/drawing/2014/main" id="{569109A8-B6AB-4F8D-9145-2F9B8367529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sp>
        <p:nvSpPr>
          <p:cNvPr id="110" name="Freeform 66">
            <a:extLst>
              <a:ext uri="{FF2B5EF4-FFF2-40B4-BE49-F238E27FC236}">
                <a16:creationId xmlns:a16="http://schemas.microsoft.com/office/drawing/2014/main" id="{69AF1190-E53A-4418-B91C-421F2440F100}"/>
              </a:ext>
            </a:extLst>
          </p:cNvPr>
          <p:cNvSpPr/>
          <p:nvPr/>
        </p:nvSpPr>
        <p:spPr>
          <a:xfrm>
            <a:off x="14637095" y="7836093"/>
            <a:ext cx="492937" cy="402360"/>
          </a:xfrm>
          <a:custGeom>
            <a:avLst/>
            <a:gdLst/>
            <a:ahLst/>
            <a:cxnLst/>
            <a:rect l="l" t="t" r="r" b="b"/>
            <a:pathLst>
              <a:path w="492937" h="402360">
                <a:moveTo>
                  <a:pt x="0" y="0"/>
                </a:moveTo>
                <a:lnTo>
                  <a:pt x="492938" y="0"/>
                </a:lnTo>
                <a:lnTo>
                  <a:pt x="492938" y="402360"/>
                </a:lnTo>
                <a:lnTo>
                  <a:pt x="0" y="402360"/>
                </a:lnTo>
                <a:lnTo>
                  <a:pt x="0" y="0"/>
                </a:lnTo>
                <a:close/>
              </a:path>
            </a:pathLst>
          </a:custGeom>
          <a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1" name="TextBox 93">
            <a:extLst>
              <a:ext uri="{FF2B5EF4-FFF2-40B4-BE49-F238E27FC236}">
                <a16:creationId xmlns:a16="http://schemas.microsoft.com/office/drawing/2014/main" id="{2113AEF3-3E65-4282-90E8-C247357F3017}"/>
              </a:ext>
            </a:extLst>
          </p:cNvPr>
          <p:cNvSpPr txBox="1"/>
          <p:nvPr/>
        </p:nvSpPr>
        <p:spPr>
          <a:xfrm>
            <a:off x="13820346" y="8467676"/>
            <a:ext cx="2316905" cy="1206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6-3-788/36 &amp; 37/A, "Badhe House", First Floor, Ameerpet, </a:t>
            </a:r>
            <a:r>
              <a:rPr lang="en-US" sz="1521" u="none" strike="noStrik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Durganagar</a:t>
            </a: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Hyderabad,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Telangana - 500016</a:t>
            </a:r>
          </a:p>
        </p:txBody>
      </p:sp>
      <p:sp>
        <p:nvSpPr>
          <p:cNvPr id="112" name="TextBox 94">
            <a:extLst>
              <a:ext uri="{FF2B5EF4-FFF2-40B4-BE49-F238E27FC236}">
                <a16:creationId xmlns:a16="http://schemas.microsoft.com/office/drawing/2014/main" id="{291C6639-29DD-42AA-B2C1-C5DB119B8783}"/>
              </a:ext>
            </a:extLst>
          </p:cNvPr>
          <p:cNvSpPr txBox="1"/>
          <p:nvPr/>
        </p:nvSpPr>
        <p:spPr>
          <a:xfrm>
            <a:off x="14421541" y="9703448"/>
            <a:ext cx="1408285" cy="257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HYDERABAD </a:t>
            </a:r>
          </a:p>
        </p:txBody>
      </p:sp>
      <p:sp>
        <p:nvSpPr>
          <p:cNvPr id="113" name="Freeform 13">
            <a:extLst>
              <a:ext uri="{FF2B5EF4-FFF2-40B4-BE49-F238E27FC236}">
                <a16:creationId xmlns:a16="http://schemas.microsoft.com/office/drawing/2014/main" id="{84CEACFC-20F4-4E4C-83F0-70C7E9E4C345}"/>
              </a:ext>
            </a:extLst>
          </p:cNvPr>
          <p:cNvSpPr/>
          <p:nvPr/>
        </p:nvSpPr>
        <p:spPr>
          <a:xfrm>
            <a:off x="12227712" y="1227522"/>
            <a:ext cx="2816061" cy="2830923"/>
          </a:xfrm>
          <a:custGeom>
            <a:avLst/>
            <a:gdLst/>
            <a:ahLst/>
            <a:cxnLst/>
            <a:rect l="l" t="t" r="r" b="b"/>
            <a:pathLst>
              <a:path w="11673909" h="2830923">
                <a:moveTo>
                  <a:pt x="0" y="0"/>
                </a:moveTo>
                <a:lnTo>
                  <a:pt x="11673909" y="0"/>
                </a:lnTo>
                <a:lnTo>
                  <a:pt x="11673909" y="2830923"/>
                </a:lnTo>
                <a:lnTo>
                  <a:pt x="0" y="283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1" r="-31454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4" name="Group 47">
            <a:extLst>
              <a:ext uri="{FF2B5EF4-FFF2-40B4-BE49-F238E27FC236}">
                <a16:creationId xmlns:a16="http://schemas.microsoft.com/office/drawing/2014/main" id="{00D21817-143B-4209-AD4D-620BE755AC48}"/>
              </a:ext>
            </a:extLst>
          </p:cNvPr>
          <p:cNvGrpSpPr/>
          <p:nvPr/>
        </p:nvGrpSpPr>
        <p:grpSpPr>
          <a:xfrm>
            <a:off x="13106005" y="1522177"/>
            <a:ext cx="671747" cy="671747"/>
            <a:chOff x="0" y="0"/>
            <a:chExt cx="812800" cy="812800"/>
          </a:xfrm>
        </p:grpSpPr>
        <p:sp>
          <p:nvSpPr>
            <p:cNvPr id="115" name="Freeform 48">
              <a:extLst>
                <a:ext uri="{FF2B5EF4-FFF2-40B4-BE49-F238E27FC236}">
                  <a16:creationId xmlns:a16="http://schemas.microsoft.com/office/drawing/2014/main" id="{6151DFC6-02C6-41CC-BF96-E04BEA866A1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1D2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TextBox 49">
              <a:extLst>
                <a:ext uri="{FF2B5EF4-FFF2-40B4-BE49-F238E27FC236}">
                  <a16:creationId xmlns:a16="http://schemas.microsoft.com/office/drawing/2014/main" id="{66BF1AE7-689F-4B95-9468-8221C934F2D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2751" tIns="42751" rIns="42751" bIns="42751" rtlCol="0" anchor="ctr"/>
            <a:lstStyle/>
            <a:p>
              <a:pPr algn="ctr">
                <a:lnSpc>
                  <a:spcPts val="2517"/>
                </a:lnSpc>
              </a:pPr>
              <a:endParaRPr/>
            </a:p>
          </p:txBody>
        </p:sp>
      </p:grpSp>
      <p:sp>
        <p:nvSpPr>
          <p:cNvPr id="118" name="TextBox 93">
            <a:extLst>
              <a:ext uri="{FF2B5EF4-FFF2-40B4-BE49-F238E27FC236}">
                <a16:creationId xmlns:a16="http://schemas.microsoft.com/office/drawing/2014/main" id="{AAA0C175-8E63-4B92-AF3F-9B5426D1FC92}"/>
              </a:ext>
            </a:extLst>
          </p:cNvPr>
          <p:cNvSpPr txBox="1"/>
          <p:nvPr/>
        </p:nvSpPr>
        <p:spPr>
          <a:xfrm>
            <a:off x="12267771" y="2324632"/>
            <a:ext cx="2464430" cy="962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Shop No. 11A, 345,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New Sai Niketan CHS Ltd. </a:t>
            </a:r>
          </a:p>
          <a:p>
            <a:pPr marL="0" lvl="0" indent="0" algn="ctr">
              <a:lnSpc>
                <a:spcPts val="1856"/>
              </a:lnSpc>
              <a:spcBef>
                <a:spcPct val="0"/>
              </a:spcBef>
            </a:pP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Dr </a:t>
            </a:r>
            <a:r>
              <a:rPr lang="en-US" sz="1521" u="none" strike="noStrik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Mascarenhas</a:t>
            </a: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Road, </a:t>
            </a:r>
            <a:r>
              <a:rPr lang="en-US" sz="1521" u="none" strike="noStrik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Mazgaon</a:t>
            </a:r>
            <a:r>
              <a:rPr lang="en-US" sz="1521" u="none" strike="noStrik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Mumbai – 400010</a:t>
            </a:r>
          </a:p>
        </p:txBody>
      </p:sp>
      <p:sp>
        <p:nvSpPr>
          <p:cNvPr id="119" name="TextBox 94">
            <a:extLst>
              <a:ext uri="{FF2B5EF4-FFF2-40B4-BE49-F238E27FC236}">
                <a16:creationId xmlns:a16="http://schemas.microsoft.com/office/drawing/2014/main" id="{3BC8C06B-BB13-4180-86E7-18952F21440E}"/>
              </a:ext>
            </a:extLst>
          </p:cNvPr>
          <p:cNvSpPr txBox="1"/>
          <p:nvPr/>
        </p:nvSpPr>
        <p:spPr>
          <a:xfrm>
            <a:off x="12981873" y="3509505"/>
            <a:ext cx="1527751" cy="257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21"/>
              </a:lnSpc>
              <a:spcBef>
                <a:spcPct val="0"/>
              </a:spcBef>
            </a:pPr>
            <a:r>
              <a:rPr lang="en-US" sz="1738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MAZGAON</a:t>
            </a:r>
          </a:p>
        </p:txBody>
      </p:sp>
      <p:sp>
        <p:nvSpPr>
          <p:cNvPr id="120" name="Freeform 26">
            <a:extLst>
              <a:ext uri="{FF2B5EF4-FFF2-40B4-BE49-F238E27FC236}">
                <a16:creationId xmlns:a16="http://schemas.microsoft.com/office/drawing/2014/main" id="{9C48CFB6-F1D5-4B88-AD9B-16C4DD01AF3B}"/>
              </a:ext>
            </a:extLst>
          </p:cNvPr>
          <p:cNvSpPr/>
          <p:nvPr/>
        </p:nvSpPr>
        <p:spPr>
          <a:xfrm>
            <a:off x="13226008" y="1688231"/>
            <a:ext cx="466236" cy="384645"/>
          </a:xfrm>
          <a:custGeom>
            <a:avLst/>
            <a:gdLst/>
            <a:ahLst/>
            <a:cxnLst/>
            <a:rect l="l" t="t" r="r" b="b"/>
            <a:pathLst>
              <a:path w="466236" h="384645">
                <a:moveTo>
                  <a:pt x="0" y="0"/>
                </a:moveTo>
                <a:lnTo>
                  <a:pt x="466236" y="0"/>
                </a:lnTo>
                <a:lnTo>
                  <a:pt x="466236" y="384645"/>
                </a:lnTo>
                <a:lnTo>
                  <a:pt x="0" y="384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114800" cy="10287000"/>
            <a:chOff x="0" y="0"/>
            <a:chExt cx="108373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3733" cy="2709333"/>
            </a:xfrm>
            <a:custGeom>
              <a:avLst/>
              <a:gdLst/>
              <a:ahLst/>
              <a:cxnLst/>
              <a:rect l="l" t="t" r="r" b="b"/>
              <a:pathLst>
                <a:path w="1083733" h="2709333">
                  <a:moveTo>
                    <a:pt x="0" y="0"/>
                  </a:moveTo>
                  <a:lnTo>
                    <a:pt x="1083733" y="0"/>
                  </a:lnTo>
                  <a:lnTo>
                    <a:pt x="10837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598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837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7261562" cy="9258300"/>
            <a:chOff x="0" y="0"/>
            <a:chExt cx="9682083" cy="123444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23822" r="23822"/>
            <a:stretch>
              <a:fillRect/>
            </a:stretch>
          </p:blipFill>
          <p:spPr>
            <a:xfrm>
              <a:off x="0" y="0"/>
              <a:ext cx="9682083" cy="123444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0908863" y="3721573"/>
            <a:ext cx="6328235" cy="3901913"/>
            <a:chOff x="0" y="0"/>
            <a:chExt cx="1666696" cy="10276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66696" cy="1027664"/>
            </a:xfrm>
            <a:custGeom>
              <a:avLst/>
              <a:gdLst/>
              <a:ahLst/>
              <a:cxnLst/>
              <a:rect l="l" t="t" r="r" b="b"/>
              <a:pathLst>
                <a:path w="1666696" h="1027664">
                  <a:moveTo>
                    <a:pt x="0" y="0"/>
                  </a:moveTo>
                  <a:lnTo>
                    <a:pt x="1666696" y="0"/>
                  </a:lnTo>
                  <a:lnTo>
                    <a:pt x="1666696" y="1027664"/>
                  </a:lnTo>
                  <a:lnTo>
                    <a:pt x="0" y="10276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66696" cy="1065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4139898" y="2704370"/>
            <a:ext cx="311940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6366330" y="5910654"/>
            <a:ext cx="576517" cy="57651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492035" y="6073895"/>
            <a:ext cx="325106" cy="250036"/>
          </a:xfrm>
          <a:custGeom>
            <a:avLst/>
            <a:gdLst/>
            <a:ahLst/>
            <a:cxnLst/>
            <a:rect l="l" t="t" r="r" b="b"/>
            <a:pathLst>
              <a:path w="325106" h="250036">
                <a:moveTo>
                  <a:pt x="0" y="0"/>
                </a:moveTo>
                <a:lnTo>
                  <a:pt x="325106" y="0"/>
                </a:lnTo>
                <a:lnTo>
                  <a:pt x="325106" y="250036"/>
                </a:lnTo>
                <a:lnTo>
                  <a:pt x="0" y="250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6366330" y="6877696"/>
            <a:ext cx="576517" cy="57651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445431" y="6956797"/>
            <a:ext cx="418315" cy="418315"/>
          </a:xfrm>
          <a:custGeom>
            <a:avLst/>
            <a:gdLst/>
            <a:ahLst/>
            <a:cxnLst/>
            <a:rect l="l" t="t" r="r" b="b"/>
            <a:pathLst>
              <a:path w="418315" h="418315">
                <a:moveTo>
                  <a:pt x="0" y="0"/>
                </a:moveTo>
                <a:lnTo>
                  <a:pt x="418314" y="0"/>
                </a:lnTo>
                <a:lnTo>
                  <a:pt x="418314" y="418315"/>
                </a:lnTo>
                <a:lnTo>
                  <a:pt x="0" y="4183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6355086" y="3976570"/>
            <a:ext cx="576517" cy="576517"/>
          </a:xfrm>
          <a:custGeom>
            <a:avLst/>
            <a:gdLst/>
            <a:ahLst/>
            <a:cxnLst/>
            <a:rect l="l" t="t" r="r" b="b"/>
            <a:pathLst>
              <a:path w="576517" h="576517">
                <a:moveTo>
                  <a:pt x="0" y="0"/>
                </a:moveTo>
                <a:lnTo>
                  <a:pt x="576517" y="0"/>
                </a:lnTo>
                <a:lnTo>
                  <a:pt x="576517" y="576517"/>
                </a:lnTo>
                <a:lnTo>
                  <a:pt x="0" y="5765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6358172" y="4919849"/>
            <a:ext cx="573430" cy="624142"/>
          </a:xfrm>
          <a:custGeom>
            <a:avLst/>
            <a:gdLst/>
            <a:ahLst/>
            <a:cxnLst/>
            <a:rect l="l" t="t" r="r" b="b"/>
            <a:pathLst>
              <a:path w="573430" h="624142">
                <a:moveTo>
                  <a:pt x="0" y="0"/>
                </a:moveTo>
                <a:lnTo>
                  <a:pt x="573431" y="0"/>
                </a:lnTo>
                <a:lnTo>
                  <a:pt x="573431" y="624142"/>
                </a:lnTo>
                <a:lnTo>
                  <a:pt x="0" y="6241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8791625" y="1527647"/>
            <a:ext cx="8795377" cy="10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00"/>
              </a:lnSpc>
            </a:pPr>
            <a:r>
              <a:rPr lang="en-US" sz="8000" dirty="0">
                <a:solidFill>
                  <a:srgbClr val="C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Let's Connect!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3598" y="5964002"/>
            <a:ext cx="4817323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8"/>
              </a:lnSpc>
            </a:pPr>
            <a:r>
              <a:rPr lang="en-US" sz="2499" u="sng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  <a:hlinkClick r:id="rId11" tooltip="mailto:connect@jhsassociates.in"/>
              </a:rPr>
              <a:t>connect@jhsassociates.in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53598" y="6931044"/>
            <a:ext cx="4817323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8"/>
              </a:lnSpc>
            </a:pPr>
            <a:r>
              <a:rPr lang="en-US" sz="2499" spc="1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https://jhsassociates.in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09091" y="4996960"/>
            <a:ext cx="2761830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8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+91 8097</a:t>
            </a:r>
            <a:r>
              <a:rPr lang="en-US" sz="2499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0 93034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32893" y="7899711"/>
            <a:ext cx="6704204" cy="1044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Your goals. Our expertise. One partnership that delivers.</a:t>
            </a:r>
          </a:p>
          <a:p>
            <a:pPr algn="just">
              <a:lnSpc>
                <a:spcPts val="2799"/>
              </a:lnSpc>
            </a:pPr>
            <a:r>
              <a:rPr lang="en-US" sz="1999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Get in touch and let’s start a conversation that transforms challenges into opportunities.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32893" y="9210675"/>
            <a:ext cx="672640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 u="sng">
                <a:solidFill>
                  <a:srgbClr val="737373"/>
                </a:solidFill>
                <a:latin typeface="Blacker Sans Text"/>
                <a:ea typeface="Blacker Sans Text"/>
                <a:cs typeface="Blacker Sans Text"/>
                <a:sym typeface="Blacker Sans Text"/>
                <a:hlinkClick r:id="rId12" tooltip="https://jhsassociates.in"/>
              </a:rPr>
              <a:t>https://jhsassociates.in/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84996" y="4054542"/>
            <a:ext cx="2285925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8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1800</a:t>
            </a:r>
            <a:r>
              <a:rPr lang="en-US" sz="2499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1201022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578243" y="9968163"/>
            <a:ext cx="169918" cy="19858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>
                    <a:alpha val="46667"/>
                  </a:srgbClr>
                </a:solidFill>
                <a:latin typeface="Arimo"/>
                <a:ea typeface="Arimo"/>
                <a:cs typeface="Arimo"/>
                <a:sym typeface="Arimo"/>
              </a:rPr>
              <a:t>18</a:t>
            </a:r>
          </a:p>
        </p:txBody>
      </p:sp>
      <p:sp>
        <p:nvSpPr>
          <p:cNvPr id="30" name="Freeform 20">
            <a:extLst>
              <a:ext uri="{FF2B5EF4-FFF2-40B4-BE49-F238E27FC236}">
                <a16:creationId xmlns:a16="http://schemas.microsoft.com/office/drawing/2014/main" id="{8C1BFE2C-7147-4BA0-970A-D5F10D3068F6}"/>
              </a:ext>
            </a:extLst>
          </p:cNvPr>
          <p:cNvSpPr/>
          <p:nvPr/>
        </p:nvSpPr>
        <p:spPr>
          <a:xfrm>
            <a:off x="16791577" y="21936"/>
            <a:ext cx="1304780" cy="1310657"/>
          </a:xfrm>
          <a:custGeom>
            <a:avLst/>
            <a:gdLst/>
            <a:ahLst/>
            <a:cxnLst/>
            <a:rect l="l" t="t" r="r" b="b"/>
            <a:pathLst>
              <a:path w="1304780" h="1310657">
                <a:moveTo>
                  <a:pt x="0" y="0"/>
                </a:moveTo>
                <a:lnTo>
                  <a:pt x="1304779" y="0"/>
                </a:lnTo>
                <a:lnTo>
                  <a:pt x="1304779" y="1310657"/>
                </a:lnTo>
                <a:lnTo>
                  <a:pt x="0" y="131065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94910"/>
      </p:ext>
    </p:extLst>
  </p:cSld>
  <p:clrMapOvr>
    <a:masterClrMapping/>
  </p:clrMapOvr>
  <p:transition spd="med">
    <p:push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 r="-48610" b="-88234"/>
          </a:stretch>
        </a:blipFill>
      </a:spPr>
      <a:bodyPr/>
      <a:lstStyle/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9255</TotalTime>
  <Words>2006</Words>
  <Application>Microsoft Office PowerPoint</Application>
  <PresentationFormat>Custom</PresentationFormat>
  <Paragraphs>391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Blacker Sans Text</vt:lpstr>
      <vt:lpstr>Calibri</vt:lpstr>
      <vt:lpstr>Arimo</vt:lpstr>
      <vt:lpstr>Arial</vt:lpstr>
      <vt:lpstr>Archivo Black</vt:lpstr>
      <vt:lpstr>Aileron</vt:lpstr>
      <vt:lpstr>Roboto</vt:lpstr>
      <vt:lpstr>Aileron Italics</vt:lpstr>
      <vt:lpstr>Open Sauce</vt:lpstr>
      <vt:lpstr>Open Sauce Bold</vt:lpstr>
      <vt:lpstr>Aileron Bold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JHS Business Profile</dc:title>
  <dc:creator>Zishan Khan</dc:creator>
  <cp:lastModifiedBy>Sneha Patel</cp:lastModifiedBy>
  <cp:revision>57</cp:revision>
  <cp:lastPrinted>2026-05-27T05:30:38Z</cp:lastPrinted>
  <dcterms:created xsi:type="dcterms:W3CDTF">2006-08-16T00:00:00Z</dcterms:created>
  <dcterms:modified xsi:type="dcterms:W3CDTF">2026-07-28T12:46:16Z</dcterms:modified>
  <dc:identifier>DAGvpQ0wk_Y</dc:identifier>
</cp:coreProperties>
</file>